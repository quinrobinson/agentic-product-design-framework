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280160"/>
            <a:ext cx="685800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x UX</a:t>
            </a:r>
            <a:endParaRPr lang="en-US" sz="6000" dirty="0"/>
          </a:p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Framework</a:t>
            </a:r>
            <a:endParaRPr lang="en-US" sz="6000" dirty="0"/>
          </a:p>
        </p:txBody>
      </p:sp>
      <p:sp>
        <p:nvSpPr>
          <p:cNvPr id="3" name="Shape 1"/>
          <p:cNvSpPr/>
          <p:nvPr/>
        </p:nvSpPr>
        <p:spPr>
          <a:xfrm>
            <a:off x="640080" y="3364992"/>
            <a:ext cx="1097280" cy="4572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3511296"/>
            <a:ext cx="5943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reusable project template for integrating AI</a:t>
            </a:r>
            <a:endParaRPr lang="en-US" sz="16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every phase of product design.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4526280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0080" y="47274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26080" y="4526280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926080" y="47274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Design Phases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212080" y="4526280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212080" y="47274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Skill Files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498080" y="4526280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LEVERAGE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498080" y="47274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throughout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5577840"/>
            <a:ext cx="10881360" cy="0"/>
          </a:xfrm>
          <a:prstGeom prst="line">
            <a:avLst/>
          </a:prstGeom>
          <a:noFill/>
          <a:ln w="6350">
            <a:solidFill>
              <a:srgbClr val="334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566928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</a:t>
            </a:r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5943600"/>
            <a:ext cx="1737360" cy="27432"/>
          </a:xfrm>
          <a:prstGeom prst="rect">
            <a:avLst/>
          </a:prstGeom>
          <a:solidFill>
            <a:srgbClr val="22C55E">
              <a:alpha val="45000"/>
            </a:srgbClr>
          </a:solidFill>
          <a:ln w="12700">
            <a:solidFill>
              <a:srgbClr val="22C55E">
                <a:alpha val="45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560320" y="566928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</a:t>
            </a:r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560320" y="5943600"/>
            <a:ext cx="1737360" cy="27432"/>
          </a:xfrm>
          <a:prstGeom prst="rect">
            <a:avLst/>
          </a:prstGeom>
          <a:solidFill>
            <a:srgbClr val="8B5CF6">
              <a:alpha val="45000"/>
            </a:srgbClr>
          </a:solidFill>
          <a:ln w="12700">
            <a:solidFill>
              <a:srgbClr val="8B5CF6">
                <a:alpha val="45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80560" y="566928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</a:t>
            </a:r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Ideate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480560" y="5943600"/>
            <a:ext cx="1737360" cy="27432"/>
          </a:xfrm>
          <a:prstGeom prst="rect">
            <a:avLst/>
          </a:prstGeom>
          <a:solidFill>
            <a:srgbClr val="F59E0B">
              <a:alpha val="45000"/>
            </a:srgbClr>
          </a:solidFill>
          <a:ln w="12700">
            <a:solidFill>
              <a:srgbClr val="F59E0B">
                <a:alpha val="45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0" y="566928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</a:t>
            </a:r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0" y="5943600"/>
            <a:ext cx="1737360" cy="27432"/>
          </a:xfrm>
          <a:prstGeom prst="rect">
            <a:avLst/>
          </a:prstGeom>
          <a:solidFill>
            <a:srgbClr val="3B82F6">
              <a:alpha val="45000"/>
            </a:srgbClr>
          </a:solidFill>
          <a:ln w="12700">
            <a:solidFill>
              <a:srgbClr val="3B82F6">
                <a:alpha val="45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21040" y="566928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</a:t>
            </a:r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321040" y="5943600"/>
            <a:ext cx="1737360" cy="27432"/>
          </a:xfrm>
          <a:prstGeom prst="rect">
            <a:avLst/>
          </a:prstGeom>
          <a:solidFill>
            <a:srgbClr val="EF4444">
              <a:alpha val="45000"/>
            </a:srgbClr>
          </a:solidFill>
          <a:ln w="12700">
            <a:solidFill>
              <a:srgbClr val="EF4444">
                <a:alpha val="45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241280" y="566928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</a:t>
            </a:r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0241280" y="5943600"/>
            <a:ext cx="1737360" cy="27432"/>
          </a:xfrm>
          <a:prstGeom prst="rect">
            <a:avLst/>
          </a:prstGeom>
          <a:solidFill>
            <a:srgbClr val="14B8A6">
              <a:alpha val="45000"/>
            </a:srgbClr>
          </a:solidFill>
          <a:ln w="12700">
            <a:solidFill>
              <a:srgbClr val="14B8A6">
                <a:alpha val="45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528816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v1.0 — Duplicate the Figma template for each new project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64240" y="65105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38404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594360"/>
            <a:ext cx="9144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AI x UX Design Framework?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9144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scalable, AI-integrated system for product and UX design — from research through delivery.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874520"/>
            <a:ext cx="3566160" cy="1508760"/>
          </a:xfrm>
          <a:prstGeom prst="rect">
            <a:avLst/>
          </a:prstGeom>
          <a:solidFill>
            <a:srgbClr val="F0FDF4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874520"/>
            <a:ext cx="3566160" cy="4572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02996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239572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skill files covering every design phase — from discovery through delivery.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434840" y="1874520"/>
            <a:ext cx="3566160" cy="1508760"/>
          </a:xfrm>
          <a:prstGeom prst="rect">
            <a:avLst/>
          </a:prstGeom>
          <a:solidFill>
            <a:srgbClr val="FFFBEB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434840" y="1874520"/>
            <a:ext cx="356616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17720" y="202996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AI-integrated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17720" y="239572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Prompts, templates, and workflows built for Claude and other AI tools.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1874520"/>
            <a:ext cx="3566160" cy="1508760"/>
          </a:xfrm>
          <a:prstGeom prst="rect">
            <a:avLst/>
          </a:prstGeom>
          <a:solidFill>
            <a:srgbClr val="F0FDFA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29600" y="1874520"/>
            <a:ext cx="3566160" cy="4572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0" y="202996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Living system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412480" y="239572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to grow with your practice. Add, modify, and scale as you go.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365760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4800" dirty="0"/>
          </a:p>
        </p:txBody>
      </p:sp>
      <p:sp>
        <p:nvSpPr>
          <p:cNvPr id="19" name="Text 17"/>
          <p:cNvSpPr/>
          <p:nvPr/>
        </p:nvSpPr>
        <p:spPr>
          <a:xfrm>
            <a:off x="640080" y="43708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files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291840" y="365760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4800" dirty="0"/>
          </a:p>
        </p:txBody>
      </p:sp>
      <p:sp>
        <p:nvSpPr>
          <p:cNvPr id="21" name="Text 19"/>
          <p:cNvSpPr/>
          <p:nvPr/>
        </p:nvSpPr>
        <p:spPr>
          <a:xfrm>
            <a:off x="3291840" y="43708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phases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40080" y="507492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800" dirty="0"/>
          </a:p>
        </p:txBody>
      </p:sp>
      <p:sp>
        <p:nvSpPr>
          <p:cNvPr id="23" name="Text 21"/>
          <p:cNvSpPr/>
          <p:nvPr/>
        </p:nvSpPr>
        <p:spPr>
          <a:xfrm>
            <a:off x="640080" y="57881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artifacts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291840" y="507492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4800" dirty="0"/>
          </a:p>
        </p:txBody>
      </p:sp>
      <p:sp>
        <p:nvSpPr>
          <p:cNvPr id="25" name="Text 23"/>
          <p:cNvSpPr/>
          <p:nvPr/>
        </p:nvSpPr>
        <p:spPr>
          <a:xfrm>
            <a:off x="3291840" y="57881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Figma template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217920" y="3566160"/>
            <a:ext cx="5303520" cy="2514600"/>
          </a:xfrm>
          <a:prstGeom prst="rect">
            <a:avLst/>
          </a:prstGeom>
          <a:solidFill>
            <a:srgbClr val="F0FDF4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217920" y="3566160"/>
            <a:ext cx="5303520" cy="4572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0" y="3749040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framework. Any project. Every phase.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6400800" y="4434840"/>
            <a:ext cx="4846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x UX Design Framework is a living system — use what's useful now, grow it over time. It's not a methodology to follow. It's infrastructure to build on.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64240" y="65105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38404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594360"/>
            <a:ext cx="9144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adoption is fast. Design workflows haven't caught up.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508760"/>
            <a:ext cx="5394960" cy="1325880"/>
          </a:xfrm>
          <a:prstGeom prst="rect">
            <a:avLst/>
          </a:prstGeom>
          <a:solidFill>
            <a:srgbClr val="FEF2F2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508760"/>
            <a:ext cx="5394960" cy="457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64592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Disconnected tools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984248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used ad hoc — one-off prompts, no systematic approach to integration across the team.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09360" y="1508760"/>
            <a:ext cx="5394960" cy="1325880"/>
          </a:xfrm>
          <a:prstGeom prst="rect">
            <a:avLst/>
          </a:prstGeom>
          <a:solidFill>
            <a:srgbClr val="FEF2F2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309360" y="1508760"/>
            <a:ext cx="5394960" cy="457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92240" y="164592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Inconsistent outputs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92240" y="1984248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designer uses AI differently, leading to unpredictable quality across projects.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3017520"/>
            <a:ext cx="5394960" cy="1325880"/>
          </a:xfrm>
          <a:prstGeom prst="rect">
            <a:avLst/>
          </a:prstGeom>
          <a:solidFill>
            <a:srgbClr val="FEF2F2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3017520"/>
            <a:ext cx="5394960" cy="457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15468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shared language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2960" y="3493008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 lack templates and frameworks to leverage AI collectively and repeatably.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309360" y="3017520"/>
            <a:ext cx="5394960" cy="1325880"/>
          </a:xfrm>
          <a:prstGeom prst="rect">
            <a:avLst/>
          </a:prstGeom>
          <a:solidFill>
            <a:srgbClr val="FEF2F2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09360" y="3017520"/>
            <a:ext cx="5394960" cy="457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92240" y="315468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Reinventing the wheel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92240" y="3493008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project restarts from zero. No accumulated knowledge, no institutional memory.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4754880"/>
            <a:ext cx="10881360" cy="77724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484632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framework is the answer — a structured, AI-native approach to product design that scales with any team.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40080" y="5715000"/>
            <a:ext cx="1088136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5806440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  →  Define  →  Ideate  →  Prototype  →  Validate  →  Deliver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64240" y="65105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20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920240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FRAMEWORK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914400" y="2176272"/>
            <a:ext cx="7772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Process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914400" y="32918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phases. Nine skill files. One coherent system.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778240" y="914400"/>
            <a:ext cx="1783080" cy="329184"/>
          </a:xfrm>
          <a:prstGeom prst="rect">
            <a:avLst/>
          </a:prstGeom>
          <a:solidFill>
            <a:srgbClr val="22C55E">
              <a:alpha val="15000"/>
            </a:srgbClr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869680" y="969264"/>
            <a:ext cx="1627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</a:t>
            </a:r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778240" y="1737360"/>
            <a:ext cx="1783080" cy="329184"/>
          </a:xfrm>
          <a:prstGeom prst="rect">
            <a:avLst/>
          </a:prstGeom>
          <a:solidFill>
            <a:srgbClr val="8B5CF6">
              <a:alpha val="15000"/>
            </a:srgbClr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0" y="1792224"/>
            <a:ext cx="1627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</a:t>
            </a:r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778240" y="2560320"/>
            <a:ext cx="1783080" cy="329184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869680" y="2615184"/>
            <a:ext cx="1627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</a:t>
            </a:r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Ideate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778240" y="3383280"/>
            <a:ext cx="1783080" cy="329184"/>
          </a:xfrm>
          <a:prstGeom prst="rect">
            <a:avLst/>
          </a:prstGeom>
          <a:solidFill>
            <a:srgbClr val="3B82F6">
              <a:alpha val="15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69680" y="3438144"/>
            <a:ext cx="1627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</a:t>
            </a:r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778240" y="4206240"/>
            <a:ext cx="1783080" cy="329184"/>
          </a:xfrm>
          <a:prstGeom prst="rect">
            <a:avLst/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69680" y="4261104"/>
            <a:ext cx="1627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</a:t>
            </a:r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778240" y="5029200"/>
            <a:ext cx="1783080" cy="329184"/>
          </a:xfrm>
          <a:prstGeom prst="rect">
            <a:avLst/>
          </a:prstGeom>
          <a:solidFill>
            <a:srgbClr val="14B8A6">
              <a:alpha val="15000"/>
            </a:srgbClr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869680" y="5084064"/>
            <a:ext cx="1627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</a:t>
            </a:r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64240" y="65105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38404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OVERVIEW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594360"/>
            <a:ext cx="9144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phases, end to end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9144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phase has dedicated skill files, AI prompts, and Figma workspace pages.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3566160" cy="2057400"/>
          </a:xfrm>
          <a:prstGeom prst="rect">
            <a:avLst/>
          </a:prstGeom>
          <a:solidFill>
            <a:srgbClr val="F0FDF4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783080"/>
            <a:ext cx="3566160" cy="4572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22960" y="230428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22960" y="2679192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the problem space through research, competitive analysis, and synthesis.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434840" y="1783080"/>
            <a:ext cx="3566160" cy="2057400"/>
          </a:xfrm>
          <a:prstGeom prst="rect">
            <a:avLst/>
          </a:prstGeom>
          <a:solidFill>
            <a:srgbClr val="F5F3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434840" y="1783080"/>
            <a:ext cx="3566160" cy="4572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617720" y="230428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617720" y="2679192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the problem clearly with HMW statements, journey maps, and design briefs.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229600" y="1783080"/>
            <a:ext cx="3566160" cy="2057400"/>
          </a:xfrm>
          <a:prstGeom prst="rect">
            <a:avLst/>
          </a:prstGeom>
          <a:solidFill>
            <a:srgbClr val="FFFBEB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229600" y="1783080"/>
            <a:ext cx="356616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12480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412480" y="230428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Ideate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8412480" y="2679192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diverse design concepts using the Five-Direction method and AI prompts.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069080"/>
            <a:ext cx="3566160" cy="2057400"/>
          </a:xfrm>
          <a:prstGeom prst="rect">
            <a:avLst/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0080" y="4069080"/>
            <a:ext cx="3566160" cy="457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4206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22960" y="459028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822960" y="4965192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functional prototypes, write UX copy, and run accessibility audits.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434840" y="4069080"/>
            <a:ext cx="3566160" cy="2057400"/>
          </a:xfrm>
          <a:prstGeom prst="rect">
            <a:avLst/>
          </a:prstGeom>
          <a:solidFill>
            <a:srgbClr val="FEF2F2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434840" y="4069080"/>
            <a:ext cx="3566160" cy="457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17720" y="4206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617720" y="459028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4617720" y="4965192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with real users, synthesize findings, and prioritize by severity x frequency.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229600" y="4069080"/>
            <a:ext cx="3566160" cy="2057400"/>
          </a:xfrm>
          <a:prstGeom prst="rect">
            <a:avLst/>
          </a:prstGeom>
          <a:solidFill>
            <a:srgbClr val="F0FDFA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8229600" y="4069080"/>
            <a:ext cx="3566160" cy="4572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412480" y="4206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412480" y="459028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8412480" y="4965192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 component specs, dev handoff packages, and design decision records.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64240" y="65105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38404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CHAINING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594360"/>
            <a:ext cx="9144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phases so outputs become inputs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9144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phase generates a Handoff Block — a structured summary Claude fills in that becomes the opening context for the next phase.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1554480" cy="1005840"/>
          </a:xfrm>
          <a:prstGeom prst="rect">
            <a:avLst/>
          </a:prstGeom>
          <a:solidFill>
            <a:srgbClr val="F0FDF4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1920240"/>
            <a:ext cx="1554480" cy="4572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2648" y="20116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12648" y="2304288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093976" y="21945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496312" y="1920240"/>
            <a:ext cx="1554480" cy="1005840"/>
          </a:xfrm>
          <a:prstGeom prst="rect">
            <a:avLst/>
          </a:prstGeom>
          <a:solidFill>
            <a:srgbClr val="F5F3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496312" y="1920240"/>
            <a:ext cx="1554480" cy="4572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06040" y="20116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606040" y="2304288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087368" y="21945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489704" y="1920240"/>
            <a:ext cx="1554480" cy="1005840"/>
          </a:xfrm>
          <a:prstGeom prst="rect">
            <a:avLst/>
          </a:prstGeom>
          <a:solidFill>
            <a:srgbClr val="FFFBEB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489704" y="1920240"/>
            <a:ext cx="155448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99432" y="20116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99432" y="2304288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Ideate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080760" y="21945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483096" y="1920240"/>
            <a:ext cx="1554480" cy="1005840"/>
          </a:xfrm>
          <a:prstGeom prst="rect">
            <a:avLst/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83096" y="1920240"/>
            <a:ext cx="1554480" cy="457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92824" y="20116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92824" y="2304288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074152" y="21945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8476488" y="1920240"/>
            <a:ext cx="1554480" cy="1005840"/>
          </a:xfrm>
          <a:prstGeom prst="rect">
            <a:avLst/>
          </a:prstGeom>
          <a:solidFill>
            <a:srgbClr val="FEF2F2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476488" y="1920240"/>
            <a:ext cx="1554480" cy="457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86216" y="20116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586216" y="2304288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0067544" y="21945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10469880" y="1920240"/>
            <a:ext cx="1554480" cy="1005840"/>
          </a:xfrm>
          <a:prstGeom prst="rect">
            <a:avLst/>
          </a:prstGeom>
          <a:solidFill>
            <a:srgbClr val="F0FDFA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10469880" y="1920240"/>
            <a:ext cx="1554480" cy="4572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579608" y="20116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10579608" y="2304288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94360" y="3063240"/>
            <a:ext cx="1371600" cy="347472"/>
          </a:xfrm>
          <a:prstGeom prst="rect">
            <a:avLst/>
          </a:prstGeom>
          <a:solidFill>
            <a:srgbClr val="22C55E">
              <a:alpha val="12000"/>
            </a:srgbClr>
          </a:solidFill>
          <a:ln w="9525">
            <a:solidFill>
              <a:srgbClr val="22C55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4360" y="309067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 Block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1280160" y="2926080"/>
            <a:ext cx="0" cy="137160"/>
          </a:xfrm>
          <a:prstGeom prst="line">
            <a:avLst/>
          </a:prstGeom>
          <a:noFill/>
          <a:ln w="9525">
            <a:solidFill>
              <a:srgbClr val="22C55E">
                <a:alpha val="6000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587752" y="3063240"/>
            <a:ext cx="1371600" cy="347472"/>
          </a:xfrm>
          <a:prstGeom prst="rect">
            <a:avLst/>
          </a:prstGeom>
          <a:solidFill>
            <a:srgbClr val="8B5CF6">
              <a:alpha val="12000"/>
            </a:srgbClr>
          </a:solidFill>
          <a:ln w="9525">
            <a:solidFill>
              <a:srgbClr val="8B5CF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587752" y="309067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 Block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273552" y="2926080"/>
            <a:ext cx="0" cy="137160"/>
          </a:xfrm>
          <a:prstGeom prst="line">
            <a:avLst/>
          </a:prstGeom>
          <a:noFill/>
          <a:ln w="9525">
            <a:solidFill>
              <a:srgbClr val="8B5CF6">
                <a:alpha val="6000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81144" y="3063240"/>
            <a:ext cx="1371600" cy="347472"/>
          </a:xfrm>
          <a:prstGeom prst="rect">
            <a:avLst/>
          </a:prstGeom>
          <a:solidFill>
            <a:srgbClr val="F59E0B">
              <a:alpha val="12000"/>
            </a:srgbClr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581144" y="309067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 Block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266944" y="2926080"/>
            <a:ext cx="0" cy="137160"/>
          </a:xfrm>
          <a:prstGeom prst="line">
            <a:avLst/>
          </a:prstGeom>
          <a:noFill/>
          <a:ln w="9525">
            <a:solidFill>
              <a:srgbClr val="F59E0B">
                <a:alpha val="6000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574536" y="3063240"/>
            <a:ext cx="1371600" cy="347472"/>
          </a:xfrm>
          <a:prstGeom prst="rect">
            <a:avLst/>
          </a:prstGeom>
          <a:solidFill>
            <a:srgbClr val="3B82F6">
              <a:alpha val="12000"/>
            </a:srgbClr>
          </a:solidFill>
          <a:ln w="9525">
            <a:solidFill>
              <a:srgbClr val="3B82F6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574536" y="309067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 Block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260336" y="2926080"/>
            <a:ext cx="0" cy="137160"/>
          </a:xfrm>
          <a:prstGeom prst="line">
            <a:avLst/>
          </a:prstGeom>
          <a:noFill/>
          <a:ln w="9525">
            <a:solidFill>
              <a:srgbClr val="3B82F6">
                <a:alpha val="6000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567928" y="3063240"/>
            <a:ext cx="1371600" cy="347472"/>
          </a:xfrm>
          <a:prstGeom prst="rect">
            <a:avLst/>
          </a:prstGeom>
          <a:solidFill>
            <a:srgbClr val="EF4444">
              <a:alpha val="12000"/>
            </a:srgbClr>
          </a:solidFill>
          <a:ln w="9525">
            <a:solidFill>
              <a:srgbClr val="EF444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567928" y="309067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 Block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9253728" y="2926080"/>
            <a:ext cx="0" cy="137160"/>
          </a:xfrm>
          <a:prstGeom prst="line">
            <a:avLst/>
          </a:prstGeom>
          <a:noFill/>
          <a:ln w="9525">
            <a:solidFill>
              <a:srgbClr val="EF4444">
                <a:alpha val="6000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0561320" y="3063240"/>
            <a:ext cx="1371600" cy="347472"/>
          </a:xfrm>
          <a:prstGeom prst="rect">
            <a:avLst/>
          </a:prstGeom>
          <a:solidFill>
            <a:srgbClr val="14B8A6">
              <a:alpha val="12000"/>
            </a:srgbClr>
          </a:solidFill>
          <a:ln w="9525">
            <a:solidFill>
              <a:srgbClr val="14B8A6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0561320" y="309067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 Block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11247120" y="2926080"/>
            <a:ext cx="0" cy="137160"/>
          </a:xfrm>
          <a:prstGeom prst="line">
            <a:avLst/>
          </a:prstGeom>
          <a:noFill/>
          <a:ln w="9525">
            <a:solidFill>
              <a:srgbClr val="14B8A6">
                <a:alpha val="6000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40080" y="3246120"/>
            <a:ext cx="3566160" cy="1417320"/>
          </a:xfrm>
          <a:prstGeom prst="rect">
            <a:avLst/>
          </a:prstGeom>
          <a:solidFill>
            <a:srgbClr val="F0FDF4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640080" y="3246120"/>
            <a:ext cx="3566160" cy="4572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22960" y="340156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context loss</a:t>
            </a:r>
            <a:endParaRPr lang="en-US" sz="1400" dirty="0"/>
          </a:p>
        </p:txBody>
      </p:sp>
      <p:sp>
        <p:nvSpPr>
          <p:cNvPr id="56" name="Text 54"/>
          <p:cNvSpPr/>
          <p:nvPr/>
        </p:nvSpPr>
        <p:spPr>
          <a:xfrm>
            <a:off x="822960" y="374904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carries full project context — personas, decisions, constraints — from phase to phase without re-briefing.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4434840" y="3246120"/>
            <a:ext cx="3566160" cy="1417320"/>
          </a:xfrm>
          <a:prstGeom prst="rect">
            <a:avLst/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4434840" y="3246120"/>
            <a:ext cx="3566160" cy="457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617720" y="340156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continuous workflow</a:t>
            </a:r>
            <a:endParaRPr lang="en-US" sz="1400" dirty="0"/>
          </a:p>
        </p:txBody>
      </p:sp>
      <p:sp>
        <p:nvSpPr>
          <p:cNvPr id="60" name="Text 58"/>
          <p:cNvSpPr/>
          <p:nvPr/>
        </p:nvSpPr>
        <p:spPr>
          <a:xfrm>
            <a:off x="4617720" y="374904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separate conversations become one coherent thread. The framework feels like a process, not a collection of tools.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8229600" y="3246120"/>
            <a:ext cx="3566160" cy="1417320"/>
          </a:xfrm>
          <a:prstGeom prst="rect">
            <a:avLst/>
          </a:prstGeom>
          <a:solidFill>
            <a:srgbClr val="F0FDFA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8229600" y="3246120"/>
            <a:ext cx="3566160" cy="4572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412480" y="340156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audit trail</a:t>
            </a:r>
            <a:endParaRPr lang="en-US" sz="1400" dirty="0"/>
          </a:p>
        </p:txBody>
      </p:sp>
      <p:sp>
        <p:nvSpPr>
          <p:cNvPr id="64" name="Text 62"/>
          <p:cNvSpPr/>
          <p:nvPr/>
        </p:nvSpPr>
        <p:spPr>
          <a:xfrm>
            <a:off x="8412480" y="374904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handoff block is a structured record of decisions made. Paste them into Notion, Figma, or your project docs.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640080" y="4864608"/>
            <a:ext cx="1088136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40080" y="4956048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close of each phase: ask Claude to generate a Handoff Block → store it → paste it as the first message of the next phase.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64240" y="65105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411480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CHAINING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9144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Phase Handoff Block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353312"/>
            <a:ext cx="9144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structured template Claude fills in at the close of each phase — paste it as the first message of the next.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737360"/>
            <a:ext cx="6583680" cy="416052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737360"/>
            <a:ext cx="54864" cy="416052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901952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— Discover → Define Handoff Block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22960" y="228600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CONTEXT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" y="2505456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Product: [what we're designing]  ·  Users: [who]  ·  Goal: [what success looks like]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285292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SUMMARY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" y="3072384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3 themes · Most critical pain points · Key user quotes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22960" y="3419856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 DEFINED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822960" y="3639312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role, primary goal, primary frustration — one row per persona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2960" y="398678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OPPORTUNITIES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" y="4206240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3 opportunity areas with supporting evidence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22960" y="4553712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QUESTIONS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" y="4773168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don't know yet that the next phase should answer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22960" y="512064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FOCUS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22960" y="5340096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problem to tackle first and why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498080" y="1737360"/>
            <a:ext cx="4023360" cy="416052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498080" y="1737360"/>
            <a:ext cx="54864" cy="416052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680960" y="1901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USE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680960" y="2368296"/>
            <a:ext cx="292608" cy="292608"/>
          </a:xfrm>
          <a:prstGeom prst="ellipse">
            <a:avLst/>
          </a:prstGeom>
          <a:solidFill>
            <a:srgbClr val="22C55E">
              <a:alpha val="30000"/>
            </a:srgbClr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680960" y="237744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065008" y="2368296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phase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065008" y="2642616"/>
            <a:ext cx="3246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Claude: "Generate a Phase Handoff Block for this Discover session."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827264" y="2660904"/>
            <a:ext cx="0" cy="859536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80960" y="3538728"/>
            <a:ext cx="292608" cy="292608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80960" y="3547872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065008" y="353872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it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065008" y="3813048"/>
            <a:ext cx="3246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into your Figma AI Toolkit page, Notion doc, or project notes.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7827264" y="3831336"/>
            <a:ext cx="0" cy="859536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680960" y="4709160"/>
            <a:ext cx="292608" cy="292608"/>
          </a:xfrm>
          <a:prstGeom prst="ellipse">
            <a:avLst/>
          </a:prstGeom>
          <a:solidFill>
            <a:srgbClr val="14B8A6">
              <a:alpha val="30000"/>
            </a:srgbClr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680960" y="471830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8065008" y="4709160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next phase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8065008" y="4983480"/>
            <a:ext cx="3246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the block as your first message. Claude confirms context and recommends where to start.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7498080" y="5166360"/>
            <a:ext cx="4023360" cy="530352"/>
          </a:xfrm>
          <a:prstGeom prst="rect">
            <a:avLst/>
          </a:prstGeom>
          <a:solidFill>
            <a:srgbClr val="14B8A6">
              <a:alpha val="10000"/>
            </a:srgbClr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662672" y="5230368"/>
            <a:ext cx="3703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skill-chaining.md to your Claude Project so handoff block generation is always available.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64240" y="65105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38404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FILES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594360"/>
            <a:ext cx="9144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structured skill files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9144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contains workflows, AI prompts, templates, and quality checklists.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737360"/>
            <a:ext cx="3566160" cy="1371600"/>
          </a:xfrm>
          <a:prstGeom prst="rect">
            <a:avLst/>
          </a:prstGeom>
          <a:solidFill>
            <a:srgbClr val="F0FDF4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737360"/>
            <a:ext cx="3566160" cy="4572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8470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01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77240" y="2048256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Research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239572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user-research.md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77240" y="2688336"/>
            <a:ext cx="822960" cy="201168"/>
          </a:xfrm>
          <a:prstGeom prst="rect">
            <a:avLst/>
          </a:prstGeom>
          <a:solidFill>
            <a:srgbClr val="22C55E">
              <a:alpha val="20000"/>
            </a:srgbClr>
          </a:solidFill>
          <a:ln w="9525">
            <a:solidFill>
              <a:srgbClr val="22C55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270662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AI: High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434840" y="1737360"/>
            <a:ext cx="3566160" cy="1371600"/>
          </a:xfrm>
          <a:prstGeom prst="rect">
            <a:avLst/>
          </a:prstGeom>
          <a:solidFill>
            <a:srgbClr val="F0FDF4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434840" y="1737360"/>
            <a:ext cx="3566160" cy="4572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0" y="18470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01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572000" y="2048256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Analysis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0" y="239572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competitive-analysis.md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0" y="2688336"/>
            <a:ext cx="822960" cy="201168"/>
          </a:xfrm>
          <a:prstGeom prst="rect">
            <a:avLst/>
          </a:prstGeom>
          <a:solidFill>
            <a:srgbClr val="22C55E">
              <a:alpha val="20000"/>
            </a:srgbClr>
          </a:solidFill>
          <a:ln w="9525">
            <a:solidFill>
              <a:srgbClr val="22C5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0" y="270662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AI: High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8229600" y="1737360"/>
            <a:ext cx="3566160" cy="1371600"/>
          </a:xfrm>
          <a:prstGeom prst="rect">
            <a:avLst/>
          </a:prstGeom>
          <a:solidFill>
            <a:srgbClr val="F5F3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229600" y="1737360"/>
            <a:ext cx="3566160" cy="4572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66760" y="18470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02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366760" y="2048256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Framing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366760" y="239572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problem-framing.md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366760" y="2688336"/>
            <a:ext cx="822960" cy="201168"/>
          </a:xfrm>
          <a:prstGeom prst="rect">
            <a:avLst/>
          </a:prstGeom>
          <a:solidFill>
            <a:srgbClr val="F59E0B">
              <a:alpha val="20000"/>
            </a:srgbClr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66760" y="270662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AI: Medium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40080" y="3291840"/>
            <a:ext cx="3566160" cy="1371600"/>
          </a:xfrm>
          <a:prstGeom prst="rect">
            <a:avLst/>
          </a:prstGeom>
          <a:solidFill>
            <a:srgbClr val="FFFBEB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40080" y="3291840"/>
            <a:ext cx="356616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340156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03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777240" y="3602736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Generation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77240" y="395020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concept-generation.md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7240" y="4242816"/>
            <a:ext cx="822960" cy="201168"/>
          </a:xfrm>
          <a:prstGeom prst="rect">
            <a:avLst/>
          </a:prstGeom>
          <a:solidFill>
            <a:srgbClr val="22C55E">
              <a:alpha val="20000"/>
            </a:srgbClr>
          </a:solidFill>
          <a:ln w="9525">
            <a:solidFill>
              <a:srgbClr val="22C55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7240" y="426110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AI: High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4434840" y="3291840"/>
            <a:ext cx="3566160" cy="1371600"/>
          </a:xfrm>
          <a:prstGeom prst="rect">
            <a:avLst/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434840" y="3291840"/>
            <a:ext cx="3566160" cy="457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72000" y="340156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04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4572000" y="3602736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Prototyping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4572000" y="395020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prototyping.md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0" y="4242816"/>
            <a:ext cx="822960" cy="201168"/>
          </a:xfrm>
          <a:prstGeom prst="rect">
            <a:avLst/>
          </a:prstGeom>
          <a:solidFill>
            <a:srgbClr val="22C55E">
              <a:alpha val="20000"/>
            </a:srgbClr>
          </a:solidFill>
          <a:ln w="9525">
            <a:solidFill>
              <a:srgbClr val="22C55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72000" y="426110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AI: High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8229600" y="3291840"/>
            <a:ext cx="3566160" cy="1371600"/>
          </a:xfrm>
          <a:prstGeom prst="rect">
            <a:avLst/>
          </a:prstGeom>
          <a:solidFill>
            <a:srgbClr val="FEF2F2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8229600" y="3291840"/>
            <a:ext cx="3566160" cy="457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366760" y="340156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05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8366760" y="3602736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Usability Testing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8366760" y="395020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usability-testing.md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8366760" y="4242816"/>
            <a:ext cx="822960" cy="201168"/>
          </a:xfrm>
          <a:prstGeom prst="rect">
            <a:avLst/>
          </a:prstGeom>
          <a:solidFill>
            <a:srgbClr val="22C55E">
              <a:alpha val="20000"/>
            </a:srgbClr>
          </a:solidFill>
          <a:ln w="9525">
            <a:solidFill>
              <a:srgbClr val="22C55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366760" y="426110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AI: High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640080" y="4846320"/>
            <a:ext cx="3566160" cy="1371600"/>
          </a:xfrm>
          <a:prstGeom prst="rect">
            <a:avLst/>
          </a:prstGeom>
          <a:solidFill>
            <a:srgbClr val="F0FDFA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640080" y="4846320"/>
            <a:ext cx="3566160" cy="4572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77240" y="495604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06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777240" y="5157216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Delivery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777240" y="550468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design-delivery.md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777240" y="5797296"/>
            <a:ext cx="822960" cy="201168"/>
          </a:xfrm>
          <a:prstGeom prst="rect">
            <a:avLst/>
          </a:prstGeom>
          <a:solidFill>
            <a:srgbClr val="22C55E">
              <a:alpha val="20000"/>
            </a:srgbClr>
          </a:solidFill>
          <a:ln w="9525">
            <a:solidFill>
              <a:srgbClr val="22C55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77240" y="58155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AI: High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4434840" y="4846320"/>
            <a:ext cx="3566160" cy="1371600"/>
          </a:xfrm>
          <a:prstGeom prst="rect">
            <a:avLst/>
          </a:prstGeom>
          <a:solidFill>
            <a:srgbClr val="FFFBEB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4434840" y="4846320"/>
            <a:ext cx="356616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572000" y="495604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03/06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4572000" y="5157216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Systems</a:t>
            </a:r>
            <a:endParaRPr lang="en-US" sz="1400" dirty="0"/>
          </a:p>
        </p:txBody>
      </p:sp>
      <p:sp>
        <p:nvSpPr>
          <p:cNvPr id="59" name="Text 57"/>
          <p:cNvSpPr/>
          <p:nvPr/>
        </p:nvSpPr>
        <p:spPr>
          <a:xfrm>
            <a:off x="4572000" y="550468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design-systems.md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4572000" y="5797296"/>
            <a:ext cx="822960" cy="201168"/>
          </a:xfrm>
          <a:prstGeom prst="rect">
            <a:avLst/>
          </a:prstGeom>
          <a:solidFill>
            <a:srgbClr val="22C55E">
              <a:alpha val="20000"/>
            </a:srgbClr>
          </a:solidFill>
          <a:ln w="9525">
            <a:solidFill>
              <a:srgbClr val="22C55E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572000" y="58155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AI: High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8229600" y="4846320"/>
            <a:ext cx="3566160" cy="1371600"/>
          </a:xfrm>
          <a:prstGeom prst="rect">
            <a:avLst/>
          </a:prstGeom>
          <a:solidFill>
            <a:srgbClr val="F5F3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63" name="Shape 61"/>
          <p:cNvSpPr/>
          <p:nvPr/>
        </p:nvSpPr>
        <p:spPr>
          <a:xfrm>
            <a:off x="8229600" y="4846320"/>
            <a:ext cx="3566160" cy="4572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8366760" y="495604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ALL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8366760" y="5157216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Figma Playbook</a:t>
            </a:r>
            <a:endParaRPr lang="en-US" sz="1400" dirty="0"/>
          </a:p>
        </p:txBody>
      </p:sp>
      <p:sp>
        <p:nvSpPr>
          <p:cNvPr id="66" name="Text 64"/>
          <p:cNvSpPr/>
          <p:nvPr/>
        </p:nvSpPr>
        <p:spPr>
          <a:xfrm>
            <a:off x="8366760" y="550468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figma-playbook.md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8366760" y="5797296"/>
            <a:ext cx="822960" cy="201168"/>
          </a:xfrm>
          <a:prstGeom prst="rect">
            <a:avLst/>
          </a:prstGeom>
          <a:solidFill>
            <a:srgbClr val="22C55E">
              <a:alpha val="20000"/>
            </a:srgbClr>
          </a:solidFill>
          <a:ln w="9525">
            <a:solidFill>
              <a:srgbClr val="22C55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366760" y="58155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AI: High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64240" y="65105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38404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FIGMA TEMPLATE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594360"/>
            <a:ext cx="9144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Figma project template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9144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10-page file you duplicate per project — structured, phase-by-phase.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874520"/>
            <a:ext cx="2011680" cy="1874520"/>
          </a:xfrm>
          <a:prstGeom prst="rect">
            <a:avLst/>
          </a:prstGeom>
          <a:solidFill>
            <a:srgbClr val="F0FDF4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874520"/>
            <a:ext cx="2011680" cy="4572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20116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04872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metadata, team, and phase overview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880360" y="1874520"/>
            <a:ext cx="2011680" cy="1874520"/>
          </a:xfrm>
          <a:prstGeom prst="rect">
            <a:avLst/>
          </a:prstGeom>
          <a:solidFill>
            <a:srgbClr val="F5F3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880360" y="1874520"/>
            <a:ext cx="2011680" cy="4572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4952" y="20116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Map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044952" y="2404872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overview of the full Discover to Deliver flow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120640" y="1874520"/>
            <a:ext cx="2011680" cy="1874520"/>
          </a:xfrm>
          <a:prstGeom prst="rect">
            <a:avLst/>
          </a:prstGeom>
          <a:solidFill>
            <a:srgbClr val="F0FDF4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120640" y="1874520"/>
            <a:ext cx="2011680" cy="4572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85232" y="20116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Discover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285232" y="2404872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findings, personas, competitive matrix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360920" y="1874520"/>
            <a:ext cx="2011680" cy="1874520"/>
          </a:xfrm>
          <a:prstGeom prst="rect">
            <a:avLst/>
          </a:prstGeom>
          <a:solidFill>
            <a:srgbClr val="F5F3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360920" y="1874520"/>
            <a:ext cx="2011680" cy="4572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525512" y="20116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Define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525512" y="2404872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Journey maps, design briefs, requirements boards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9601200" y="1874520"/>
            <a:ext cx="2011680" cy="1874520"/>
          </a:xfrm>
          <a:prstGeom prst="rect">
            <a:avLst/>
          </a:prstGeom>
          <a:solidFill>
            <a:srgbClr val="FFFBEB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601200" y="1874520"/>
            <a:ext cx="201168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765792" y="20116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Ideate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765792" y="2404872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cards, wireframe scaffolding, pattern refs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40080" y="3977640"/>
            <a:ext cx="2011680" cy="1874520"/>
          </a:xfrm>
          <a:prstGeom prst="rect">
            <a:avLst/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40080" y="3977640"/>
            <a:ext cx="2011680" cy="457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672" y="41148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Prototype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04672" y="4507992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specs, screen layouts, all states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880360" y="3977640"/>
            <a:ext cx="2011680" cy="1874520"/>
          </a:xfrm>
          <a:prstGeom prst="rect">
            <a:avLst/>
          </a:prstGeom>
          <a:solidFill>
            <a:srgbClr val="FEF2F2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2880360" y="3977640"/>
            <a:ext cx="2011680" cy="457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44952" y="41148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Validate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3044952" y="4507992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matrices, issue severity cards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120640" y="3977640"/>
            <a:ext cx="2011680" cy="1874520"/>
          </a:xfrm>
          <a:prstGeom prst="rect">
            <a:avLst/>
          </a:prstGeom>
          <a:solidFill>
            <a:srgbClr val="F0FDFA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5120640" y="3977640"/>
            <a:ext cx="2011680" cy="4572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85232" y="41148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Deliver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5285232" y="4507992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Redlines, component docs, decision records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360920" y="3977640"/>
            <a:ext cx="2011680" cy="1874520"/>
          </a:xfrm>
          <a:prstGeom prst="rect">
            <a:avLst/>
          </a:prstGeom>
          <a:solidFill>
            <a:srgbClr val="FFFBEB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7360920" y="3977640"/>
            <a:ext cx="201168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525512" y="41148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Design System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7525512" y="4507992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reference, color, type, spacing, radius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9601200" y="3977640"/>
            <a:ext cx="2011680" cy="1874520"/>
          </a:xfrm>
          <a:prstGeom prst="rect">
            <a:avLst/>
          </a:prstGeom>
          <a:solidFill>
            <a:srgbClr val="F0FDFA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9601200" y="3977640"/>
            <a:ext cx="2011680" cy="4572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765792" y="41148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AI Toolkit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9765792" y="4507992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Copy-ready prompts and skill file references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64240" y="65105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411480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ARTIFACTS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9144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interactive React artifacts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353312"/>
            <a:ext cx="9144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tools you use directly in Claude — no setup required.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874520"/>
            <a:ext cx="2560320" cy="393192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874520"/>
            <a:ext cx="54864" cy="393192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04825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design-process-system.jsx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22960" y="23317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Process System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2898648"/>
            <a:ext cx="2194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Clickable phase-by-phase system with AI prompts, skill docs, templates, and tool recommendations per phase.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22960" y="4919472"/>
            <a:ext cx="685800" cy="219456"/>
          </a:xfrm>
          <a:prstGeom prst="rect">
            <a:avLst/>
          </a:prstGeom>
          <a:solidFill>
            <a:srgbClr val="22C55E">
              <a:alpha val="18000"/>
            </a:srgbClr>
          </a:solidFill>
          <a:ln w="9525">
            <a:solidFill>
              <a:srgbClr val="22C55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93776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JSX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3429000" y="1874520"/>
            <a:ext cx="2560320" cy="393192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29000" y="1874520"/>
            <a:ext cx="54864" cy="39319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11880" y="204825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design-tokens-system.jsx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611880" y="23317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Tokens System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611880" y="2898648"/>
            <a:ext cx="2194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Universal starter design system with tunable tokens, live component previews, presets, and AI-powered export.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11880" y="4919472"/>
            <a:ext cx="685800" cy="219456"/>
          </a:xfrm>
          <a:prstGeom prst="rect">
            <a:avLst/>
          </a:prstGeom>
          <a:solidFill>
            <a:srgbClr val="F59E0B">
              <a:alpha val="18000"/>
            </a:srgbClr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11880" y="493776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JSX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6217920" y="1874520"/>
            <a:ext cx="2560320" cy="393192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17920" y="1874520"/>
            <a:ext cx="54864" cy="393192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0" y="204825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design-system-checklist.jsx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400800" y="23317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System Checklist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400800" y="2898648"/>
            <a:ext cx="2194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Comprehensive audit checklist from M3, Atlassian, IBM Carbon, and Apple HIG — with Figma-ready prompts.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00800" y="4919472"/>
            <a:ext cx="685800" cy="219456"/>
          </a:xfrm>
          <a:prstGeom prst="rect">
            <a:avLst/>
          </a:prstGeom>
          <a:solidFill>
            <a:srgbClr val="8B5CF6">
              <a:alpha val="18000"/>
            </a:srgbClr>
          </a:solidFill>
          <a:ln w="9525">
            <a:solidFill>
              <a:srgbClr val="8B5CF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0" y="493776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JSX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9006840" y="1874520"/>
            <a:ext cx="2560320" cy="393192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006840" y="1874520"/>
            <a:ext cx="54864" cy="393192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89720" y="204825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m3-token-reference.jsx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189720" y="23317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 Token Reference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9189720" y="2898648"/>
            <a:ext cx="2194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M3 token docs for Button, Card, Text Field, and Nav Bar — color roles, shape, type, and spacing.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9189720" y="4919472"/>
            <a:ext cx="685800" cy="219456"/>
          </a:xfrm>
          <a:prstGeom prst="rect">
            <a:avLst/>
          </a:prstGeom>
          <a:solidFill>
            <a:srgbClr val="14B8A6">
              <a:alpha val="18000"/>
            </a:srgbClr>
          </a:solidFill>
          <a:ln w="9525">
            <a:solidFill>
              <a:srgbClr val="14B8A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89720" y="493776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JSX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64240" y="65105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38404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INTEGRATION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594360"/>
            <a:ext cx="9144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AI leverage levels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9144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skill is tagged — so you know exactly where AI accelerates your work and where you lead.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737360"/>
            <a:ext cx="3566160" cy="4434840"/>
          </a:xfrm>
          <a:prstGeom prst="rect">
            <a:avLst/>
          </a:prstGeom>
          <a:solidFill>
            <a:srgbClr val="F0FDF4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737360"/>
            <a:ext cx="3566160" cy="4572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04672" y="1920240"/>
            <a:ext cx="822960" cy="25603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1938528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04672" y="228600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handles the heavy lifting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04672" y="2834640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Synthesis, generation, documentation. You review, refine, and direct. These phases benefit most from AI acceleration.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4672" y="4069080"/>
            <a:ext cx="310896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" y="4160520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at this level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04672" y="440740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Research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04672" y="468172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Analysis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04672" y="495604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Generation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04672" y="523036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Prototyping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04672" y="550468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Usability Testing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04672" y="577900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Delivery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434840" y="1737360"/>
            <a:ext cx="3566160" cy="4434840"/>
          </a:xfrm>
          <a:prstGeom prst="rect">
            <a:avLst/>
          </a:prstGeom>
          <a:solidFill>
            <a:srgbClr val="FFFBEB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434840" y="1737360"/>
            <a:ext cx="356616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99432" y="1920240"/>
            <a:ext cx="822960" cy="25603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99432" y="1938528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99432" y="228600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assists with structure and drafts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599432" y="2834640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bring judgment, context, and strategic thinking. AI helps you draft and structure — but your decisions drive the outcome.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599432" y="4069080"/>
            <a:ext cx="310896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99432" y="4160520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at this level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599432" y="440740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Framing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99432" y="468172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 Interviews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599432" y="495604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Review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229600" y="1737360"/>
            <a:ext cx="3566160" cy="4434840"/>
          </a:xfrm>
          <a:prstGeom prst="rect">
            <a:avLst/>
          </a:prstGeom>
          <a:solidFill>
            <a:srgbClr val="FEF2F2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8229600" y="1737360"/>
            <a:ext cx="3566160" cy="457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94192" y="1920240"/>
            <a:ext cx="822960" cy="25603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394192" y="1938528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394192" y="228600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Fundamentally human skills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8394192" y="2834640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Empathy, taste, stakeholder navigation, ethical consideration. AI supports but doesn't replace the core of what designers do.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8394192" y="4069080"/>
            <a:ext cx="310896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394192" y="4160520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at this level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8394192" y="440740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Contextual Inquiry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394192" y="468172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 Building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8394192" y="495604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Ethical Judgment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64240" y="65105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20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920240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STARTED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914400" y="2176272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Use</a:t>
            </a:r>
            <a:endParaRPr lang="en-US" sz="5200" dirty="0"/>
          </a:p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Framework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914400" y="411480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practical guide for teams and individuals.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64240" y="65105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38404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594360"/>
            <a:ext cx="9144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the framework with Claude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9144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steps to get AI-powered design work flowing on any project.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737360"/>
            <a:ext cx="5394960" cy="2103120"/>
          </a:xfrm>
          <a:prstGeom prst="rect">
            <a:avLst/>
          </a:prstGeom>
          <a:solidFill>
            <a:srgbClr val="F0FDF4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737360"/>
            <a:ext cx="5394960" cy="4572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87452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22960" y="2322576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Claude Project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269748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a dedicated Project in Claude.ai. This gives Claude persistent context across all your sessions.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309360" y="1737360"/>
            <a:ext cx="5394960" cy="2103120"/>
          </a:xfrm>
          <a:prstGeom prst="rect">
            <a:avLst/>
          </a:prstGeom>
          <a:solidFill>
            <a:srgbClr val="FFFBEB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309360" y="1737360"/>
            <a:ext cx="539496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0" y="187452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492240" y="2322576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the skill files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92240" y="269748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phase skill files (user-research.md, problem-framing.md, etc.) to your Project knowledge base.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069080"/>
            <a:ext cx="5394960" cy="2103120"/>
          </a:xfrm>
          <a:prstGeom prst="rect">
            <a:avLst/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0080" y="4069080"/>
            <a:ext cx="5394960" cy="457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20624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822960" y="4654296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your project context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22960" y="502920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Claude what you're building, who it's for, and which phase you're in. More context = better output.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309360" y="4069080"/>
            <a:ext cx="5394960" cy="2103120"/>
          </a:xfrm>
          <a:prstGeom prst="rect">
            <a:avLst/>
          </a:prstGeom>
          <a:solidFill>
            <a:srgbClr val="F0FDFA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309360" y="4069080"/>
            <a:ext cx="5394960" cy="4572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92240" y="420624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6492240" y="4654296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through the phases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492240" y="502920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prompts and templates in each skill file. Claude follows the structured workflows automatically.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64240" y="65105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38404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FIGMA MCP INTEGRATION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594360"/>
            <a:ext cx="9144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executes design work directly in Figma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9144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Figma Playbook maps every deliverable to concrete Figma actions Claude executes via MCP.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874520"/>
            <a:ext cx="3566160" cy="2011680"/>
          </a:xfrm>
          <a:prstGeom prst="rect">
            <a:avLst/>
          </a:prstGeom>
          <a:solidFill>
            <a:srgbClr val="F0FDF4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874520"/>
            <a:ext cx="3566160" cy="4572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201168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</a:t>
            </a:r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240487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findings boards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04672" y="283464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 cards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04672" y="3264408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matrices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434840" y="1874520"/>
            <a:ext cx="3566160" cy="2011680"/>
          </a:xfrm>
          <a:prstGeom prst="rect">
            <a:avLst/>
          </a:prstGeom>
          <a:solidFill>
            <a:srgbClr val="F5F3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434840" y="1874520"/>
            <a:ext cx="3566160" cy="4572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99432" y="201168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</a:t>
            </a:r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99432" y="240487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Journey maps with emotion curves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99432" y="283464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briefs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99432" y="3264408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boards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229600" y="1874520"/>
            <a:ext cx="3566160" cy="2011680"/>
          </a:xfrm>
          <a:prstGeom prst="rect">
            <a:avLst/>
          </a:prstGeom>
          <a:solidFill>
            <a:srgbClr val="FFFBEB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229600" y="1874520"/>
            <a:ext cx="356616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94192" y="201168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</a:t>
            </a:r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Ideate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394192" y="240487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cards (5 directions)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394192" y="283464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Wireframe scaffolding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394192" y="3264408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references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114800"/>
            <a:ext cx="3566160" cy="2011680"/>
          </a:xfrm>
          <a:prstGeom prst="rect">
            <a:avLst/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0080" y="4114800"/>
            <a:ext cx="3566160" cy="457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4672" y="425196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</a:t>
            </a:r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04672" y="464515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 with variants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04672" y="507492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layouts + all states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04672" y="5504688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system variables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434840" y="4114800"/>
            <a:ext cx="3566160" cy="2011680"/>
          </a:xfrm>
          <a:prstGeom prst="rect">
            <a:avLst/>
          </a:prstGeom>
          <a:solidFill>
            <a:srgbClr val="FEF2F2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434840" y="4114800"/>
            <a:ext cx="3566160" cy="457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99432" y="425196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</a:t>
            </a:r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99432" y="464515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matrices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599432" y="507492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severity cards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599432" y="5504688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Heuristic eval boards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8229600" y="4114800"/>
            <a:ext cx="3566160" cy="2011680"/>
          </a:xfrm>
          <a:prstGeom prst="rect">
            <a:avLst/>
          </a:prstGeom>
          <a:solidFill>
            <a:srgbClr val="F0FDFA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8229600" y="4114800"/>
            <a:ext cx="3566160" cy="4572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394192" y="425196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</a:t>
            </a:r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8394192" y="464515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annotations + redlines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394192" y="507492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doc frames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8394192" y="5504688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record cards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64240" y="65105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411480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PROJECT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9144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a new project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353312"/>
            <a:ext cx="9144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steps to kick off any engagement with the framework.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737360"/>
            <a:ext cx="329184" cy="329184"/>
          </a:xfrm>
          <a:prstGeom prst="ellipse">
            <a:avLst/>
          </a:prstGeom>
          <a:solidFill>
            <a:srgbClr val="22C55E">
              <a:alpha val="30000"/>
            </a:srgbClr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55648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04672" y="2066544"/>
            <a:ext cx="0" cy="45720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43000" y="172821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the Figma template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43000" y="2020824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Duplicate on the AI x UX Design Process Template. Rename it for your project.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2542032"/>
            <a:ext cx="329184" cy="329184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560320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4672" y="2871216"/>
            <a:ext cx="0" cy="45720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43000" y="253288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in the Cover page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43000" y="2825496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project name, client name, date, and lead designer to the Cover page metadata.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3346704"/>
            <a:ext cx="329184" cy="329184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3364992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04672" y="3675888"/>
            <a:ext cx="0" cy="45720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43000" y="33375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Claude Project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43000" y="3630168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relevant skill files. Add project context so Claude stays informed every session.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151376"/>
            <a:ext cx="329184" cy="329184"/>
          </a:xfrm>
          <a:prstGeom prst="ellipse">
            <a:avLst/>
          </a:prstGeom>
          <a:solidFill>
            <a:srgbClr val="3B82F6">
              <a:alpha val="3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4169664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804672" y="4480560"/>
            <a:ext cx="0" cy="45720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43000" y="41422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phase by phase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143000" y="443484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through Discover to Define to Ideate to Prototype to Validate to Deliver at your pace.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0080" y="4956048"/>
            <a:ext cx="329184" cy="329184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4974336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04672" y="5285232"/>
            <a:ext cx="0" cy="45720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143000" y="494690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Customize the Design System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143000" y="523951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Figma page 07, update the token reference for your client's brand and design language.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40080" y="5760720"/>
            <a:ext cx="329184" cy="329184"/>
          </a:xfrm>
          <a:prstGeom prst="ellipse">
            <a:avLst/>
          </a:prstGeom>
          <a:solidFill>
            <a:srgbClr val="14B8A6">
              <a:alpha val="30000"/>
            </a:srgbClr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5779008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143000" y="575157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interactive artifacts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1143000" y="6044184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design-process-system.jsx or design-tokens-system.jsx in Claude for live previewing.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766560" y="1691640"/>
            <a:ext cx="4754880" cy="448056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766560" y="1691640"/>
            <a:ext cx="54864" cy="448056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949440" y="187452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tip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949440" y="219456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skill files in your Claude Project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6949440" y="2880360"/>
            <a:ext cx="42062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skill files live in a Claude Project, Claude references them automatically in every session. No re-uploading. No re-explaining. Just describe what you need and which phase you're in.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949440" y="452628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fastest path to AI-assisted design at scale.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64240" y="65105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411480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PHILOSOPHY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9144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think about AI in design work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5394960" cy="324612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783080"/>
            <a:ext cx="54864" cy="32461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96596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amplifies throughput.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822960" y="2560320"/>
            <a:ext cx="49377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that took days can be synthesized in minutes. Prototypes that needed a week can ship in hours. Documentation that was always skipped now gets written. AI removes the friction from the labor-intensive parts of design.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09360" y="1783080"/>
            <a:ext cx="5394960" cy="324612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09360" y="1783080"/>
            <a:ext cx="54864" cy="324612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92240" y="196596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provide judgment.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6492240" y="2560320"/>
            <a:ext cx="49377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Taste, empathy, strategic thinking, stakeholder navigation, ethical consideration — these remain fundamentally human skills. AI generates options. You make decisions. The best designers wield AI as a power tool, not a replacement.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5230368"/>
            <a:ext cx="10881360" cy="804672"/>
          </a:xfrm>
          <a:prstGeom prst="rect">
            <a:avLst/>
          </a:prstGeom>
          <a:solidFill>
            <a:srgbClr val="22C55E">
              <a:alpha val="12000"/>
            </a:srgbClr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5321808"/>
            <a:ext cx="10515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best designers will be those who wield AI as a power tool — not a replacement.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64240" y="65105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38404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CRAFT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594360"/>
            <a:ext cx="9144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 best from Claude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9144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practices that consistently improve Claude's output quality.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737360"/>
            <a:ext cx="3566160" cy="2103120"/>
          </a:xfrm>
          <a:prstGeom prst="rect">
            <a:avLst/>
          </a:prstGeom>
          <a:solidFill>
            <a:srgbClr val="F0FDF4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737360"/>
            <a:ext cx="3566160" cy="4572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84708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04672" y="2249424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specific about context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04672" y="2688336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product, the user, the phase, and the goal. The more Claude knows, the better it performs.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434840" y="1737360"/>
            <a:ext cx="3566160" cy="2103120"/>
          </a:xfrm>
          <a:prstGeom prst="rect">
            <a:avLst/>
          </a:prstGeom>
          <a:solidFill>
            <a:srgbClr val="FFFBEB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434840" y="1737360"/>
            <a:ext cx="356616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99432" y="184708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599432" y="2249424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[BRACKETS] as placeholders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99432" y="2688336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skill file prompts use [BRACKETS]. Replace them with your specifics before sending.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229600" y="1737360"/>
            <a:ext cx="3566160" cy="2103120"/>
          </a:xfrm>
          <a:prstGeom prst="rect">
            <a:avLst/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229600" y="1737360"/>
            <a:ext cx="3566160" cy="457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94192" y="184708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394192" y="2249424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 structured output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394192" y="2688336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tables, ranked lists, briefs with specific sections. Structure makes output immediately usable.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069080"/>
            <a:ext cx="3566160" cy="2103120"/>
          </a:xfrm>
          <a:prstGeom prst="rect">
            <a:avLst/>
          </a:prstGeom>
          <a:solidFill>
            <a:srgbClr val="F5F3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0080" y="4069080"/>
            <a:ext cx="3566160" cy="4572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4672" y="417880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04672" y="4581144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Iterate, don't restart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04672" y="5020056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'make it more concise' or 'add a section on X' rather than re-prompting from scratch.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434840" y="4069080"/>
            <a:ext cx="3566160" cy="2103120"/>
          </a:xfrm>
          <a:prstGeom prst="rect">
            <a:avLst/>
          </a:prstGeom>
          <a:solidFill>
            <a:srgbClr val="F0FDFA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434840" y="4069080"/>
            <a:ext cx="3566160" cy="4572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99432" y="417880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599432" y="4581144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skill files as system prompts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99432" y="5020056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Uploading a skill file gives Claude a structured role with established workflows for that phase.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229600" y="4069080"/>
            <a:ext cx="3566160" cy="2103120"/>
          </a:xfrm>
          <a:prstGeom prst="rect">
            <a:avLst/>
          </a:prstGeom>
          <a:solidFill>
            <a:srgbClr val="FEF2F2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8229600" y="4069080"/>
            <a:ext cx="3566160" cy="457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94192" y="417880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394192" y="4581144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with your judgment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8394192" y="5020056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drafts, you decide. Every output needs your expert eye before sharing with stakeholders.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64240" y="65105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38404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CONTRIBUTING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594360"/>
            <a:ext cx="9144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and modifying skills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9144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are plain Markdown — easy to edit, extend, and version.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120640" cy="2514600"/>
          </a:xfrm>
          <a:prstGeom prst="rect">
            <a:avLst/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783080"/>
            <a:ext cx="5120640" cy="457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94767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frontmatter format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" y="226771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---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2551176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name: skill-name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283464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phase: XX -- Phase Name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22960" y="311810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description: One-line description.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22960" y="340156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ai_leverage: high | medium | low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22960" y="368503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---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0" y="194767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 rules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92240" y="2304288"/>
            <a:ext cx="502920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92240" y="2304288"/>
            <a:ext cx="5029200" cy="4572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56832" y="237744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structured templates with clear [PLACEHOLDERS]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92240" y="3145536"/>
            <a:ext cx="502920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92240" y="3145536"/>
            <a:ext cx="502920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56832" y="321868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quality checklist at the end of every skill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92240" y="3986784"/>
            <a:ext cx="502920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92240" y="3986784"/>
            <a:ext cx="5029200" cy="4572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56832" y="4059936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skills actionable — workflows, not theory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92240" y="4828032"/>
            <a:ext cx="502920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492240" y="4828032"/>
            <a:ext cx="5029200" cy="4572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656832" y="4901184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frontmatter format: name, phase, description, ai_leverage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40080" y="5687568"/>
            <a:ext cx="1088136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57790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Licensed under MIT — open to use, adapt, and share.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64240" y="65105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38404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REFERENCE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594360"/>
            <a:ext cx="9144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one view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371600"/>
            <a:ext cx="55321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71600"/>
            <a:ext cx="45720" cy="54864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42646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Figma File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777240" y="1636776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x UX Design Process Template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983480" y="1636776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per project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0" y="1371600"/>
            <a:ext cx="55321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0" y="1371600"/>
            <a:ext cx="45720" cy="54864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42646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— 01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6537960" y="1636776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user-research.md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744200" y="1636776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0080" y="2029968"/>
            <a:ext cx="55321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029968"/>
            <a:ext cx="45720" cy="54864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20848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— 01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777240" y="2295144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competitive-analysis.md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983480" y="2295144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400800" y="2029968"/>
            <a:ext cx="55321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0" y="2029968"/>
            <a:ext cx="45720" cy="54864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37960" y="20848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— 02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6537960" y="2295144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problem-framing.md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744200" y="2295144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40080" y="2688336"/>
            <a:ext cx="55321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" y="2688336"/>
            <a:ext cx="45720" cy="5486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7240" y="274320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— 03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777240" y="295351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concept-generation.md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983480" y="2953512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Ideate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400800" y="2688336"/>
            <a:ext cx="55321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0800" y="2688336"/>
            <a:ext cx="45720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537960" y="274320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— 04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6537960" y="295351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prototyping.md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10744200" y="2953512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40080" y="3346704"/>
            <a:ext cx="55321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40080" y="3346704"/>
            <a:ext cx="45720" cy="5486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77240" y="340156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— 05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777240" y="3611880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usability-testing.md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4983480" y="361188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400800" y="3346704"/>
            <a:ext cx="55321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00800" y="3346704"/>
            <a:ext cx="45720" cy="54864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537960" y="340156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— 06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6537960" y="3611880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design-delivery.md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10744200" y="361188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640080" y="4005072"/>
            <a:ext cx="55321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40080" y="4005072"/>
            <a:ext cx="45720" cy="5486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77240" y="4059936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— 03/06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777240" y="427024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design-systems.md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4983480" y="4270248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Ideate/Deliver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6400800" y="4005072"/>
            <a:ext cx="55321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400800" y="4005072"/>
            <a:ext cx="45720" cy="54864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537960" y="4059936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— ALL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6537960" y="427024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figma-playbook.md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10744200" y="4270248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phases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640080" y="4663440"/>
            <a:ext cx="55321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40080" y="4663440"/>
            <a:ext cx="45720" cy="54864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77240" y="471830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777240" y="4928616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design-process-system.jsx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4983480" y="4928616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explorer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6400800" y="4663440"/>
            <a:ext cx="55321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400800" y="4663440"/>
            <a:ext cx="45720" cy="5486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537960" y="471830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6537960" y="4928616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design-tokens-system.jsx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10744200" y="4928616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builder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640080" y="5321808"/>
            <a:ext cx="55321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40080" y="5321808"/>
            <a:ext cx="45720" cy="54864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77240" y="537667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777240" y="5586984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design-system-checklist.jsx</a:t>
            </a:r>
            <a:endParaRPr lang="en-US" sz="1200" dirty="0"/>
          </a:p>
        </p:txBody>
      </p:sp>
      <p:sp>
        <p:nvSpPr>
          <p:cNvPr id="69" name="Text 67"/>
          <p:cNvSpPr/>
          <p:nvPr/>
        </p:nvSpPr>
        <p:spPr>
          <a:xfrm>
            <a:off x="4983480" y="5586984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tool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6400800" y="5321808"/>
            <a:ext cx="55321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6400800" y="5321808"/>
            <a:ext cx="45720" cy="54864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537960" y="537667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6537960" y="5586984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m3-token-reference.jsx</a:t>
            </a:r>
            <a:endParaRPr lang="en-US" sz="1200" dirty="0"/>
          </a:p>
        </p:txBody>
      </p:sp>
      <p:sp>
        <p:nvSpPr>
          <p:cNvPr id="74" name="Text 72"/>
          <p:cNvSpPr/>
          <p:nvPr/>
        </p:nvSpPr>
        <p:spPr>
          <a:xfrm>
            <a:off x="10744200" y="5586984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 reference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417320"/>
            <a:ext cx="7315200" cy="1874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x UX</a:t>
            </a:r>
            <a:endParaRPr lang="en-US" sz="5600" dirty="0"/>
          </a:p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Framework</a:t>
            </a:r>
            <a:endParaRPr lang="en-US" sz="5600" dirty="0"/>
          </a:p>
        </p:txBody>
      </p:sp>
      <p:sp>
        <p:nvSpPr>
          <p:cNvPr id="3" name="Shape 1"/>
          <p:cNvSpPr/>
          <p:nvPr/>
        </p:nvSpPr>
        <p:spPr>
          <a:xfrm>
            <a:off x="640080" y="3401568"/>
            <a:ext cx="1097280" cy="4572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3547872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scalable, AI-integrated framework for product and UX design.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4279392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FIGMA TEMPLATE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0080" y="44805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figma.com/design/mrHuD7sY7h6uKSVndTSIQE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4873752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50749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github.com/quinrobinson/AI-x-UX-Product-Design-Framework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5650992"/>
            <a:ext cx="10881360" cy="0"/>
          </a:xfrm>
          <a:prstGeom prst="line">
            <a:avLst/>
          </a:prstGeom>
          <a:noFill/>
          <a:ln w="6350">
            <a:solidFill>
              <a:srgbClr val="3341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57424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</a:t>
            </a:r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560320" y="57424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</a:t>
            </a:r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480560" y="57424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</a:t>
            </a:r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Ideate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0" y="57424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</a:t>
            </a:r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321040" y="57424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</a:t>
            </a:r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241280" y="57424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</a:t>
            </a:r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332720" y="6528816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v1.0 — MIT License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x UX Design Framework — Onboarding</dc:title>
  <dc:subject>PptxGenJS Presentation</dc:subject>
  <dc:creator>Quin Robinson</dc:creator>
  <cp:lastModifiedBy>Quin Robinson</cp:lastModifiedBy>
  <cp:revision>1</cp:revision>
  <dcterms:created xsi:type="dcterms:W3CDTF">2026-03-29T23:21:30Z</dcterms:created>
  <dcterms:modified xsi:type="dcterms:W3CDTF">2026-03-29T23:21:30Z</dcterms:modified>
</cp:coreProperties>
</file>