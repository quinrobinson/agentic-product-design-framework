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9" r:id="rId6"/>
    <p:sldId id="260" r:id="rId7"/>
    <p:sldId id="274" r:id="rId8"/>
    <p:sldId id="275" r:id="rId9"/>
    <p:sldId id="264" r:id="rId10"/>
    <p:sldId id="261" r:id="rId11"/>
    <p:sldId id="262" r:id="rId12"/>
    <p:sldId id="263" r:id="rId13"/>
    <p:sldId id="265" r:id="rId14"/>
    <p:sldId id="276" r:id="rId15"/>
    <p:sldId id="266" r:id="rId16"/>
    <p:sldId id="267" r:id="rId17"/>
    <p:sldId id="268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8A6"/>
    <a:srgbClr val="334155"/>
    <a:srgbClr val="F8FAFC"/>
    <a:srgbClr val="0F172A"/>
    <a:srgbClr val="21C55D"/>
    <a:srgbClr val="1E293B"/>
    <a:srgbClr val="F69E0B"/>
    <a:srgbClr val="F0F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84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573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80" y="128016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3364992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1180" y="3511296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project template for integrating AI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every phase of product design.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Design Phases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Skill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0" y="4526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LEVERAGE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4727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943599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5943599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5943599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943599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2104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21040" y="5943599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2412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241280" y="5943599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5288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Duplicate the Figma template for each new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03504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AI x UX Design Framework?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1440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framework. Any project. Every phase. </a:t>
            </a:r>
          </a:p>
          <a:p>
            <a:r>
              <a:rPr lang="en-US" sz="1400" dirty="0"/>
              <a:t>Use what's useful now, grow it over time. Upload a skill file, describe your project, and Claude follows the structured workflow — from research through delivery.</a:t>
            </a:r>
            <a:endParaRPr lang="en-US" sz="13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596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skill files covering every design phase — from discovery through delivery.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0784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0784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072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AI-integrated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072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templates, and workflows built for Claude and other AI tools.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2600" y="2606173"/>
            <a:ext cx="3566160" cy="150876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02600" y="2606173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5480" y="2761621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system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5480" y="3127381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grow with your practice. Add, modify, and scale as you go.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9184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4360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artifacts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50267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95360" y="521590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51180" y="594360"/>
            <a:ext cx="977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fast. Design workflows haven't caught up.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848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848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2136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1360" y="198424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ad hoc — one-off prompts, no systematic approach to integration across the team.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7760" y="150876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07760" y="15087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90640" y="164592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90640" y="198424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designer uses AI differently, leading to unpredictable quality across projects.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48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848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136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language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1360" y="3493008"/>
            <a:ext cx="4409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templates and frameworks to leverage AI collectively and repeatably.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07760" y="3017520"/>
            <a:ext cx="5394960" cy="13258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7760" y="301752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90640" y="315468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90640" y="3493008"/>
            <a:ext cx="440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restarts from zero. No accumulated knowledge, no institutional memory.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8480" y="4754880"/>
            <a:ext cx="11064240" cy="777240"/>
          </a:xfrm>
          <a:prstGeom prst="rect">
            <a:avLst/>
          </a:prstGeom>
          <a:solidFill>
            <a:srgbClr val="0F172A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360" y="48463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is the answer — a structured, AI-native approach to product design that scales with any team.</a:t>
            </a:r>
            <a:endParaRPr lang="en-US" sz="16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60585E-0D7C-C574-70CA-E7DA10B36C90}"/>
              </a:ext>
            </a:extLst>
          </p:cNvPr>
          <p:cNvGrpSpPr/>
          <p:nvPr/>
        </p:nvGrpSpPr>
        <p:grpSpPr>
          <a:xfrm>
            <a:off x="825500" y="2532380"/>
            <a:ext cx="9245600" cy="1638300"/>
            <a:chOff x="825500" y="2402840"/>
            <a:chExt cx="9245600" cy="1638300"/>
          </a:xfrm>
        </p:grpSpPr>
        <p:sp>
          <p:nvSpPr>
            <p:cNvPr id="4" name="Text 2"/>
            <p:cNvSpPr/>
            <p:nvPr/>
          </p:nvSpPr>
          <p:spPr>
            <a:xfrm>
              <a:off x="927100" y="24028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825500" y="2595372"/>
              <a:ext cx="7772400" cy="1005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Design Process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38200" y="358394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Six phases. Nine skill files. One coherent system.</a:t>
              </a:r>
              <a:endParaRPr lang="en-US" sz="16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545F414-6255-D018-3B13-30BD3B866DD8}"/>
              </a:ext>
            </a:extLst>
          </p:cNvPr>
          <p:cNvGrpSpPr/>
          <p:nvPr/>
        </p:nvGrpSpPr>
        <p:grpSpPr>
          <a:xfrm>
            <a:off x="8778240" y="1207008"/>
            <a:ext cx="1783080" cy="4443984"/>
            <a:chOff x="8778240" y="914400"/>
            <a:chExt cx="1783080" cy="4443984"/>
          </a:xfrm>
        </p:grpSpPr>
        <p:sp>
          <p:nvSpPr>
            <p:cNvPr id="7" name="Shape 5"/>
            <p:cNvSpPr/>
            <p:nvPr/>
          </p:nvSpPr>
          <p:spPr>
            <a:xfrm>
              <a:off x="8778240" y="914400"/>
              <a:ext cx="1783080" cy="329184"/>
            </a:xfrm>
            <a:prstGeom prst="rect">
              <a:avLst/>
            </a:prstGeom>
            <a:solidFill>
              <a:srgbClr val="22C55E">
                <a:alpha val="15000"/>
              </a:srgbClr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869680" y="9692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Discover</a:t>
              </a:r>
              <a:endParaRPr lang="en-US" sz="10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8778240" y="1737360"/>
              <a:ext cx="1783080" cy="329184"/>
            </a:xfrm>
            <a:prstGeom prst="rect">
              <a:avLst/>
            </a:prstGeom>
            <a:solidFill>
              <a:srgbClr val="8B5CF6">
                <a:alpha val="15000"/>
              </a:srgbClr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8869680" y="179222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Define</a:t>
              </a:r>
              <a:endParaRPr lang="en-US" sz="10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8778240" y="2560320"/>
              <a:ext cx="1783080" cy="329184"/>
            </a:xfrm>
            <a:prstGeom prst="rect">
              <a:avLst/>
            </a:prstGeom>
            <a:solidFill>
              <a:srgbClr val="F59E0B">
                <a:alpha val="15000"/>
              </a:srgbClr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8869680" y="261518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Ideate</a:t>
              </a:r>
              <a:endParaRPr lang="en-US" sz="10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8778240" y="3383280"/>
              <a:ext cx="1783080" cy="329184"/>
            </a:xfrm>
            <a:prstGeom prst="rect">
              <a:avLst/>
            </a:prstGeom>
            <a:solidFill>
              <a:srgbClr val="3B82F6">
                <a:alpha val="15000"/>
              </a:srgbClr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8869680" y="343814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82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Prototype</a:t>
              </a:r>
              <a:endParaRPr lang="en-US" sz="10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8778240" y="4206240"/>
              <a:ext cx="1783080" cy="329184"/>
            </a:xfrm>
            <a:prstGeom prst="rect">
              <a:avLst/>
            </a:prstGeom>
            <a:solidFill>
              <a:srgbClr val="EF4444">
                <a:alpha val="15000"/>
              </a:srgbClr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8869680" y="426110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</a:t>
              </a:r>
              <a:endParaRPr lang="en-US" sz="10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8778240" y="5029200"/>
              <a:ext cx="1783080" cy="329184"/>
            </a:xfrm>
            <a:prstGeom prst="rect">
              <a:avLst/>
            </a:prstGeom>
            <a:solidFill>
              <a:srgbClr val="14B8A6">
                <a:alpha val="15000"/>
              </a:srgbClr>
            </a:solidFill>
            <a:ln w="12700">
              <a:solidFill>
                <a:srgbClr val="14B8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8869680" y="5084064"/>
              <a:ext cx="1627632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06  </a:t>
              </a:r>
              <a:r>
                <a:rPr lang="en-US" sz="10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Deliver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think about AI in design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1308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946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amplifies throughput.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946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that took days can be synthesized in minutes. Prototypes that needed a week can ship in hours. Documentation that was always skipped now gets written. AI removes the friction from the labor-intensive parts of design.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2360" y="1656080"/>
            <a:ext cx="539496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28740" y="20294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judgment.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28740" y="2750820"/>
            <a:ext cx="4937760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Taste, empathy, strategic thinking, stakeholder navigation, ethical consideration — these remain fundamentally human skills. AI generates options. You make decisions. The best designers wield AI as a power tool, not a replacement.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13080" y="5230368"/>
            <a:ext cx="11064240" cy="804672"/>
          </a:xfrm>
          <a:prstGeom prst="rect">
            <a:avLst/>
          </a:prstGeom>
          <a:solidFill>
            <a:srgbClr val="1E293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321808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designers will be those who wield AI as a power tool — not a replacement.</a:t>
            </a:r>
            <a:endParaRPr lang="en-US" sz="16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E9F1427C-87D0-0BC3-B552-25EBE2252A20}"/>
              </a:ext>
            </a:extLst>
          </p:cNvPr>
          <p:cNvSpPr/>
          <p:nvPr/>
        </p:nvSpPr>
        <p:spPr>
          <a:xfrm>
            <a:off x="511010" y="1656080"/>
            <a:ext cx="54864" cy="32461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D8B8EAD-58C7-DED0-4092-B495C0A2BCEC}"/>
              </a:ext>
            </a:extLst>
          </p:cNvPr>
          <p:cNvSpPr/>
          <p:nvPr/>
        </p:nvSpPr>
        <p:spPr>
          <a:xfrm>
            <a:off x="6183110" y="1656080"/>
            <a:ext cx="54864" cy="32461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phases, end to 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has dedicated skill files, AI prompts, and Figma workspace pages.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8308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596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96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problem space through research, competitive analysis, and synthesis.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784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07840" y="178308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907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9072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9072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clearly with HMW statements, journey maps, and design briefs.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2600" y="1783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02600" y="178308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854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85480" y="2304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85480" y="2806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diverse design concepts using the Five-Direction method and AI prompts.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080" y="406908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596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596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9596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functional prototypes, write UX copy, and run accessibility audits.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0784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07840" y="406908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9072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49072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49072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users, synthesize findings, and prioritize by severity x frequency.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4069080"/>
            <a:ext cx="3566160" cy="20574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406908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85480" y="4206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28548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85480" y="5092192"/>
            <a:ext cx="3108960" cy="711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component specs, dev handoff packages, and design decision records.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7738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28929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phases so outputs become inputs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0466"/>
            <a:ext cx="9921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generates a Handoff Block — a structured summary Claude fills in that becomes the opening context for the next 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8316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8316" y="1920240"/>
            <a:ext cx="155448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8044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8044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707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7104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07104" y="192024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16832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6832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5858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589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55892" y="192024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6562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6562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2464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6982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26982" y="1920240"/>
            <a:ext cx="155448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36710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36710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95736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75770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275770" y="1920240"/>
            <a:ext cx="155448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85498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85498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44524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224558" y="1920240"/>
            <a:ext cx="1554480" cy="1005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24558" y="1920240"/>
            <a:ext cx="155448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334286" y="20116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334286" y="230428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9756" y="3063240"/>
            <a:ext cx="1371600" cy="347472"/>
          </a:xfrm>
          <a:prstGeom prst="rect">
            <a:avLst/>
          </a:prstGeom>
          <a:solidFill>
            <a:srgbClr val="22C55E">
              <a:alpha val="12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9756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235556" y="2926080"/>
            <a:ext cx="0" cy="137160"/>
          </a:xfrm>
          <a:prstGeom prst="line">
            <a:avLst/>
          </a:prstGeom>
          <a:noFill/>
          <a:ln w="9525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98544" y="3063240"/>
            <a:ext cx="1371600" cy="347472"/>
          </a:xfrm>
          <a:prstGeom prst="rect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498544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184344" y="2926080"/>
            <a:ext cx="0" cy="137160"/>
          </a:xfrm>
          <a:prstGeom prst="line">
            <a:avLst/>
          </a:prstGeom>
          <a:noFill/>
          <a:ln w="9525">
            <a:solidFill>
              <a:srgbClr val="8B5C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47332" y="3063240"/>
            <a:ext cx="137160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4733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33132" y="2926080"/>
            <a:ext cx="0" cy="137160"/>
          </a:xfrm>
          <a:prstGeom prst="line">
            <a:avLst/>
          </a:prstGeom>
          <a:noFill/>
          <a:ln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18422" y="3063240"/>
            <a:ext cx="1371600" cy="347472"/>
          </a:xfrm>
          <a:prstGeom prst="rect">
            <a:avLst/>
          </a:prstGeom>
          <a:solidFill>
            <a:srgbClr val="3B82F6">
              <a:alpha val="12000"/>
            </a:srgbClr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18422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04222" y="2926080"/>
            <a:ext cx="0" cy="137160"/>
          </a:xfrm>
          <a:prstGeom prst="line">
            <a:avLst/>
          </a:prstGeom>
          <a:noFill/>
          <a:ln w="9525">
            <a:solidFill>
              <a:srgbClr val="3B82F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67210" y="3063240"/>
            <a:ext cx="1371600" cy="347472"/>
          </a:xfrm>
          <a:prstGeom prst="rect">
            <a:avLst/>
          </a:prstGeom>
          <a:solidFill>
            <a:srgbClr val="EF4444">
              <a:alpha val="12000"/>
            </a:srgbClr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67210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53010" y="2926080"/>
            <a:ext cx="0" cy="137160"/>
          </a:xfrm>
          <a:prstGeom prst="line">
            <a:avLst/>
          </a:prstGeom>
          <a:noFill/>
          <a:ln w="9525">
            <a:solidFill>
              <a:srgbClr val="EF444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10315998" y="3063240"/>
            <a:ext cx="1371600" cy="347472"/>
          </a:xfrm>
          <a:prstGeom prst="rect">
            <a:avLst/>
          </a:prstGeom>
          <a:solidFill>
            <a:srgbClr val="14B8A6">
              <a:alpha val="12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315998" y="30906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Block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1001798" y="2926080"/>
            <a:ext cx="0" cy="137160"/>
          </a:xfrm>
          <a:prstGeom prst="line">
            <a:avLst/>
          </a:prstGeom>
          <a:noFill/>
          <a:ln w="9525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394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84394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67274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 loss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67274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carries full project context — personas, decisions, constraints — from phase to phase without re-briefing.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346060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346060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28940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workflow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528940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separate conversations become one coherent thread. The framework feels like a process, not a collection of tools.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207726" y="3787669"/>
            <a:ext cx="3566160" cy="14173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207726" y="3787669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390606" y="394311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audit trail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390606" y="4290589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handoff block is a structured record of decisions made. Paste them into Notion, Figma, or your project docs.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544293"/>
            <a:ext cx="10881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0080" y="5635733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close of each phase: ask Claude to generate a Handoff Block → store it → paste it as the first message of the next phase.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159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CHAINING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Handoff Block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231" y="12195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template Claude fills in at the close of each phase — paste it as the first message of the next.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58368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4635" cy="4370832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4470" y="190195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Discover → Define Handoff Block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4470" y="23759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34470" y="256194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[what we're designing]  ·  Users: [who]  ·  Goal: [what success looks like]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4470" y="294286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934470" y="3128871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themes · Most critical pain points · Key user quotes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4470" y="35097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DEFINED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934470" y="3695799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role, primary goal, primary frustration — one row per persona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4470" y="40767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934470" y="4262727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opportunity areas with supporting 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4470" y="46436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4470" y="4829655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know yet that the next phase should answer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4470" y="52105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FOCUS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4470" y="5396583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to tackle first and why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1737360"/>
            <a:ext cx="4023360" cy="437083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47866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47866" y="23774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98820" y="23682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phase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98820" y="248259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"Generate a Phase Handoff Block for this Discover session."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94170" y="2645914"/>
            <a:ext cx="0" cy="8229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98820" y="3486263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98820" y="3610683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your Figma AI Toolkit page, Notion doc, or project notes.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94170" y="3771376"/>
            <a:ext cx="0" cy="812018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47866" y="4574250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47866" y="458339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98820" y="457425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next phase</a:t>
            </a:r>
            <a:endParaRPr lang="en-US" sz="1300" dirty="0"/>
          </a:p>
        </p:txBody>
      </p:sp>
      <p:sp>
        <p:nvSpPr>
          <p:cNvPr id="42" name="Text 35">
            <a:extLst>
              <a:ext uri="{FF2B5EF4-FFF2-40B4-BE49-F238E27FC236}">
                <a16:creationId xmlns:a16="http://schemas.microsoft.com/office/drawing/2014/main" id="{B62C237D-AF1D-F1B8-C3EC-980046C170DD}"/>
              </a:ext>
            </a:extLst>
          </p:cNvPr>
          <p:cNvSpPr/>
          <p:nvPr/>
        </p:nvSpPr>
        <p:spPr>
          <a:xfrm>
            <a:off x="7747866" y="5105126"/>
            <a:ext cx="3630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block as your first message. Claude confirms context and recommends where to start.</a:t>
            </a:r>
            <a:endParaRPr lang="en-US" sz="1000" dirty="0"/>
          </a:p>
        </p:txBody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80DC8306-4D72-13CF-63AE-358E60F07E47}"/>
              </a:ext>
            </a:extLst>
          </p:cNvPr>
          <p:cNvSpPr/>
          <p:nvPr/>
        </p:nvSpPr>
        <p:spPr>
          <a:xfrm>
            <a:off x="7747866" y="5606171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skill-chaining.md to your Claude Project so handoff block generation is always available.</a:t>
            </a:r>
            <a:endParaRPr lang="en-US" sz="1000" dirty="0"/>
          </a:p>
        </p:txBody>
      </p:sp>
      <p:sp>
        <p:nvSpPr>
          <p:cNvPr id="44" name="Shape 32">
            <a:extLst>
              <a:ext uri="{FF2B5EF4-FFF2-40B4-BE49-F238E27FC236}">
                <a16:creationId xmlns:a16="http://schemas.microsoft.com/office/drawing/2014/main" id="{7A3DF8AA-1F38-C592-FD41-D2203CF621BD}"/>
              </a:ext>
            </a:extLst>
          </p:cNvPr>
          <p:cNvSpPr/>
          <p:nvPr/>
        </p:nvSpPr>
        <p:spPr>
          <a:xfrm>
            <a:off x="7750366" y="3467480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3">
            <a:extLst>
              <a:ext uri="{FF2B5EF4-FFF2-40B4-BE49-F238E27FC236}">
                <a16:creationId xmlns:a16="http://schemas.microsoft.com/office/drawing/2014/main" id="{6536AA90-F4CB-C5E2-A120-CE4CCD6FDC38}"/>
              </a:ext>
            </a:extLst>
          </p:cNvPr>
          <p:cNvSpPr/>
          <p:nvPr/>
        </p:nvSpPr>
        <p:spPr>
          <a:xfrm>
            <a:off x="7750366" y="34766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Shape 32">
            <a:extLst>
              <a:ext uri="{FF2B5EF4-FFF2-40B4-BE49-F238E27FC236}">
                <a16:creationId xmlns:a16="http://schemas.microsoft.com/office/drawing/2014/main" id="{AC844AA7-9724-DDFF-90A1-FE581206C0DA}"/>
              </a:ext>
            </a:extLst>
          </p:cNvPr>
          <p:cNvSpPr/>
          <p:nvPr/>
        </p:nvSpPr>
        <p:spPr>
          <a:xfrm>
            <a:off x="7760361" y="2345725"/>
            <a:ext cx="292608" cy="292608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96C3395-E916-0F39-9ED0-15EA38FB2E14}"/>
              </a:ext>
            </a:extLst>
          </p:cNvPr>
          <p:cNvSpPr/>
          <p:nvPr/>
        </p:nvSpPr>
        <p:spPr>
          <a:xfrm>
            <a:off x="7760361" y="235486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1C04D645-CA73-4140-7ADA-34426A1A14BC}"/>
              </a:ext>
            </a:extLst>
          </p:cNvPr>
          <p:cNvSpPr/>
          <p:nvPr/>
        </p:nvSpPr>
        <p:spPr>
          <a:xfrm>
            <a:off x="7507452" y="1737359"/>
            <a:ext cx="54633" cy="437083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37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289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AI leverage levels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is tagged — so you know exactly where AI accelerates your work and where you lead.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7672" y="1920240"/>
            <a:ext cx="82296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767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767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the heavy lifting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767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generation, documentation. You review, refine, and direct. These phases benefit most from AI acceleration.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767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767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767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767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767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7672" y="5103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7672" y="5377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7672" y="5652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0784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72432" y="1920240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7243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243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with structure and drafts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7243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bring judgment, context, and strategic thinking. AI helps you draft and structure — but your decisions drive the outcome.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7243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7243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7243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7243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7243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Review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02600" y="1737360"/>
            <a:ext cx="3566160" cy="443484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67192" y="1920240"/>
            <a:ext cx="822960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67192" y="19385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67192" y="22860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human skills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67192" y="2834640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Empathy, taste, stakeholder navigation, ethical consideration. AI supports but doesn't replace the core of what designers do.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67192" y="3942080"/>
            <a:ext cx="3108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033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this level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67192" y="4280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Inquiry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45547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Building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48290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Judgment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structured skill files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contains workflows, AI prompts, templates, and quality checklists.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024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024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24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024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024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0784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07840" y="173736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4500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4500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4500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45000" y="268833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4500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02600" y="173736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2600" y="173736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39760" y="1847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39760" y="20482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39760" y="2395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39760" y="2688336"/>
            <a:ext cx="822960" cy="201168"/>
          </a:xfrm>
          <a:prstGeom prst="rect">
            <a:avLst/>
          </a:prstGeom>
          <a:solidFill>
            <a:srgbClr val="F59E0B">
              <a:alpha val="20000"/>
            </a:srgbClr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39760" y="27066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Medium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308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13080" y="329184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02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024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Generation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024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024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024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0784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307840" y="329184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4500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44500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4500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4500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4500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02600" y="329184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2600" y="329184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2397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3976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Testing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39760" y="39502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39760" y="424281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239760" y="42611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308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13080" y="484632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24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024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Delivery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5024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5024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024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30784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307840" y="48463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44500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03/06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44500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44500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44500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4500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02600" y="4846320"/>
            <a:ext cx="3566160" cy="1371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02600" y="48463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239760" y="4956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ALL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239760" y="51572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Playbook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39760" y="55046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8239760" y="5797296"/>
            <a:ext cx="82296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952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8239760" y="58155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High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16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project template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10-page file you duplicate per project — structured, phase-by-phase.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metadata, team, and phase overview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187452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4495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4495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overview of the full Discover to Deliver 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20116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8523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Discover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8523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findings, personas, competitive matrix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6092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360920" y="1874520"/>
            <a:ext cx="20116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2551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Define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51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maps, design briefs, requirements boards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601200" y="187452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601200" y="1874520"/>
            <a:ext cx="20116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765792" y="2011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Ideate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5792" y="253187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cards, wireframe scaffolding, pattern refs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20116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467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Prototype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467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specs, screen layouts, all states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80360" y="3977640"/>
            <a:ext cx="201168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04495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Validate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4495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matrices, issue severity cards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20116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28523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Deliver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Redlines, component docs, decision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36092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2551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2551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reference, color, type, spacing, radius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601200" y="3977640"/>
            <a:ext cx="2011680" cy="18745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601200" y="3977640"/>
            <a:ext cx="201168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765792" y="41148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Toolkit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765792" y="463499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Copy-ready prompts and skill file references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43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ARTIFACTS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interactive React artifacts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151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tools you use directly in Claude — no setup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design-process-system.jsx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phase-by-phase system with AI prompts, skill docs, templates, and tool recommendations per phase.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2900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1188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design-tokens-system.jsx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1188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 System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starter design system with tunable tokens, live component previews, presets, and AI-powered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1188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design-system-checklist.jsx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Checklist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audit checklist from M3, Atlassian, IBM Carbon, and Apple HIG — with Figma-ready prompts.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1874520"/>
            <a:ext cx="25603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006840" y="1874520"/>
            <a:ext cx="54864" cy="393192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89720" y="2048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m3-token-reference.jsx</a:t>
            </a:r>
            <a:endParaRPr lang="en-US" sz="900" dirty="0">
              <a:solidFill>
                <a:srgbClr val="14B8A6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189720" y="2331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Token Reference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89720" y="3076448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M3 token docs for Button, Card, Text Field, and Nav Bar — color roles, shape, type, and spacing.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4919472"/>
            <a:ext cx="685800" cy="219456"/>
          </a:xfrm>
          <a:prstGeom prst="rect">
            <a:avLst/>
          </a:prstGeom>
          <a:solidFill>
            <a:srgbClr val="14B8A6">
              <a:alpha val="18000"/>
            </a:srgbClr>
          </a:solidFill>
          <a:ln w="9525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189720" y="49377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</a:t>
            </a:r>
            <a:endParaRPr lang="en-US" sz="800" dirty="0">
              <a:solidFill>
                <a:srgbClr val="14B8A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60E62E-9D82-232A-D32F-87C7810352A4}"/>
              </a:ext>
            </a:extLst>
          </p:cNvPr>
          <p:cNvGrpSpPr/>
          <p:nvPr/>
        </p:nvGrpSpPr>
        <p:grpSpPr>
          <a:xfrm>
            <a:off x="914400" y="2237740"/>
            <a:ext cx="9271000" cy="2397760"/>
            <a:chOff x="914400" y="2047240"/>
            <a:chExt cx="9271000" cy="2397760"/>
          </a:xfrm>
        </p:grpSpPr>
        <p:sp>
          <p:nvSpPr>
            <p:cNvPr id="4" name="Text 2"/>
            <p:cNvSpPr/>
            <p:nvPr/>
          </p:nvSpPr>
          <p:spPr>
            <a:xfrm>
              <a:off x="1041400" y="2047240"/>
              <a:ext cx="91440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300" dirty="0">
                  <a:solidFill>
                    <a:srgbClr val="14B8A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GETTING STARTED</a:t>
              </a:r>
              <a:endParaRPr lang="en-US" sz="9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14400" y="2176272"/>
              <a:ext cx="8229600" cy="1828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to Use</a:t>
              </a:r>
              <a:endParaRPr lang="en-US" sz="5200" dirty="0"/>
            </a:p>
            <a:p>
              <a:pPr marL="0" indent="0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Framework</a:t>
              </a:r>
              <a:endParaRPr lang="en-US" sz="5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914400" y="3987800"/>
              <a:ext cx="6400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practical guide for teams and individuals.</a:t>
              </a:r>
              <a:endParaRPr lang="en-US" sz="16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ickoff Promp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14 / 21</a:t>
            </a:r>
            <a:endParaRPr lang="en-US" sz="900" dirty="0"/>
          </a:p>
        </p:txBody>
      </p:sp>
      <p:sp>
        <p:nvSpPr>
          <p:cNvPr id="3" name="Label"/>
          <p:cNvSpPr/>
          <p:nvPr/>
        </p:nvSpPr>
        <p:spPr>
          <a:xfrm>
            <a:off x="77372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4B8A6"/>
                </a:solidFill>
                <a:latin typeface="Calibri" pitchFamily="34" charset="0"/>
              </a:rPr>
              <a:t>START HERE</a:t>
            </a:r>
            <a:endParaRPr lang="en-US" sz="900" dirty="0"/>
          </a:p>
        </p:txBody>
      </p:sp>
      <p:sp>
        <p:nvSpPr>
          <p:cNvPr id="4" name="Headline"/>
          <p:cNvSpPr/>
          <p:nvPr/>
        </p:nvSpPr>
        <p:spPr>
          <a:xfrm>
            <a:off x="685800" y="5943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The Kickoff Prompt</a:t>
            </a:r>
            <a:endParaRPr lang="en-US" sz="3600" dirty="0"/>
          </a:p>
        </p:txBody>
      </p:sp>
      <p:sp>
        <p:nvSpPr>
          <p:cNvPr id="5" name="Sub"/>
          <p:cNvSpPr/>
          <p:nvPr/>
        </p:nvSpPr>
        <p:spPr>
          <a:xfrm>
            <a:off x="685800" y="1222720"/>
            <a:ext cx="10049608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</a:rPr>
              <a:t>Copy this block into Claude before uploading any skill file. Claude orients itself, asks four questions, and routes you to the right starting point.</a:t>
            </a:r>
            <a:endParaRPr lang="en-US" sz="1300" dirty="0"/>
          </a:p>
        </p:txBody>
      </p:sp>
      <p:sp>
        <p:nvSpPr>
          <p:cNvPr id="6" name="Questions"/>
          <p:cNvSpPr/>
          <p:nvPr/>
        </p:nvSpPr>
        <p:spPr>
          <a:xfrm>
            <a:off x="501168" y="1788360"/>
            <a:ext cx="5486400" cy="4077181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/>
        </p:spPr>
        <p:txBody>
          <a:bodyPr lIns="274638" tIns="274638" rIns="274638" bIns="274638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</a:rPr>
              <a:t>FOUR QUESTIONS CLAUDE WILL ASK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01  What type of project is this?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New product, feature, redesign, internal tool, client work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02  What phase are you entering?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Discover / Define / Ideate / Prototype / Validate / Deliver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03  What do you have so far?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Nothing yet / a brief / brief + research / existing designs</a:t>
            </a:r>
            <a:endParaRPr lang="en-US" sz="10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</a:rPr>
              <a:t>04  Are you working solo or with a team?</a:t>
            </a:r>
            <a:endParaRPr lang="en-US" sz="11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alibri" pitchFamily="34" charset="0"/>
              </a:rPr>
              <a:t>CLAUDE RESPONDS WITH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Recommended starting phase + reason why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The exact skill file to upload next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A specific first deliverable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</a:rPr>
              <a:t>→  One prompt you can use right now</a:t>
            </a:r>
            <a:endParaRPr lang="en-US" sz="1000" dirty="0"/>
          </a:p>
        </p:txBody>
      </p:sp>
      <p:sp>
        <p:nvSpPr>
          <p:cNvPr id="7" name="CodeBlock"/>
          <p:cNvSpPr/>
          <p:nvPr/>
        </p:nvSpPr>
        <p:spPr>
          <a:xfrm>
            <a:off x="6216168" y="1788360"/>
            <a:ext cx="5486400" cy="4077181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  <a:effectLst/>
        </p:spPr>
        <p:txBody>
          <a:bodyPr lIns="274638" tIns="274638" rIns="274638" bIns="274638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b="1" kern="0" spc="200" dirty="0">
                <a:solidFill>
                  <a:srgbClr val="14B8A6"/>
                </a:solidFill>
                <a:latin typeface="Courier New" pitchFamily="49" charset="0"/>
              </a:rPr>
              <a:t>KICKOFF PROMPT  —  COPY &amp; PASTE INTO CLAUDE</a:t>
            </a:r>
            <a:endParaRPr lang="en-US" sz="8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You are a UX design assistant trained on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the AI x UX Product Design Framework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— a six-phase system (Discover to Deliver)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with skill files, Figma templates, and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AI prompts for each phase.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Ask me these four questions, then respond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with: starting phase + reason, the exact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skill file to upload, a specific first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49" charset="0"/>
              </a:rPr>
              <a:t>deliverable, and one prompt to use now.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49" charset="0"/>
              </a:rPr>
              <a:t>Full prompt in README.md (Quick Start)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49" charset="0"/>
              </a:rPr>
              <a:t>or Figma template → AI Toolkit page</a:t>
            </a:r>
            <a:endParaRPr lang="en-US" sz="9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D73D590-D1A5-6400-5706-D5EBEAB0EC61}"/>
              </a:ext>
            </a:extLst>
          </p:cNvPr>
          <p:cNvSpPr/>
          <p:nvPr/>
        </p:nvSpPr>
        <p:spPr>
          <a:xfrm>
            <a:off x="501166" y="1794789"/>
            <a:ext cx="54864" cy="407718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E74DFE6-1509-F68A-CF3C-D18F8634E07B}"/>
              </a:ext>
            </a:extLst>
          </p:cNvPr>
          <p:cNvSpPr/>
          <p:nvPr/>
        </p:nvSpPr>
        <p:spPr>
          <a:xfrm>
            <a:off x="6204433" y="1788360"/>
            <a:ext cx="54864" cy="4077181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framework with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get AI-powered design work flowing on any project.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596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9596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Kickoff Prompt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596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Kickoff Prompt from the README or Figma AI Toolkit page and paste it into a new Claude conversation. No skill file needed yet.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82360" y="173736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82360" y="173736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65240" y="18745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65240" y="23225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5240" y="2824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dedicated Project in Claude.ai and upload the skill file Claude recommended. This gives Claude persistent context across all your sessions.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08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308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596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9596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project context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596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what you're building, who it's for, and any constraints. Pin this as a Project instruction so Claude stays informed across every session.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2360" y="4069080"/>
            <a:ext cx="53949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82360" y="4069080"/>
            <a:ext cx="53949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65240" y="4206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65240" y="465429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phases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65240" y="5156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prompts and templates in each skill file. Claude follows the structured workflows automatically.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97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MCP INTEGRATION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executes design work directly in Figma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242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Figma Playbook maps every deliverable to concrete Figma actions Claude executes via MCP.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3080" y="187452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767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767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findings boards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767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cards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767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matrices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0784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07840" y="1874520"/>
            <a:ext cx="3566160" cy="4572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7243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7243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maps with emotion curves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243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7243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boards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02600" y="187452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02600" y="187452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67192" y="20116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67192" y="2404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cards (5 directions)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67192" y="28346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scaffolding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67192" y="3264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references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308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13080" y="4114800"/>
            <a:ext cx="356616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67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767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with variants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767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layouts + all states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767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variables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0784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07840" y="411480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7243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47243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matrices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243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severity cards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7243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 boards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02600" y="4114800"/>
            <a:ext cx="3566160" cy="201168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02600" y="4114800"/>
            <a:ext cx="3566160" cy="4572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67192" y="4251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67192" y="4645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annotations + redlines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67192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doc frames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67192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cards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4114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new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390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to kick off any engagement with the framework.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080" y="1737360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3080" y="175564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7672" y="2066544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16000" y="17282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the Figma template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190652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Duplicate on the AI x UX Design Process Template. Rename it for your project.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080" y="2542032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3080" y="256032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7672" y="2871216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25328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Cover page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6000" y="27111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 name, client name, date, and lead designer to the Cover page metadata.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3080" y="3346704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3080" y="3364992"/>
            <a:ext cx="32918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7672" y="3675888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Claude Project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35158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relevant skill files. Add project context so Claude stays informed every session.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3080" y="4151376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3080" y="4169664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7672" y="4480560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6000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phase by phase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15999" y="4320540"/>
            <a:ext cx="53685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through Discover to Define to Ideate to Prototype to Validate to Deliver at your pace.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080" y="4956048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3080" y="497433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7672" y="5285232"/>
            <a:ext cx="0" cy="4572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000" y="4946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Customize the Design System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15999" y="5125212"/>
            <a:ext cx="536853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Figma page 07, update the token reference for your client's brand and design language.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3080" y="5760720"/>
            <a:ext cx="329184" cy="329184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3080" y="57790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16000" y="57515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interactive artifacts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6000" y="5929884"/>
            <a:ext cx="53685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design-process-system.jsx or design-tokens-system.jsx in Claude for live previewing.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1691640"/>
            <a:ext cx="4754880" cy="44805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66560" y="1691640"/>
            <a:ext cx="54864" cy="4480560"/>
          </a:xfrm>
          <a:prstGeom prst="rect">
            <a:avLst/>
          </a:prstGeom>
          <a:solidFill>
            <a:srgbClr val="334155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6440" y="1874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</a:t>
            </a:r>
            <a:endParaRPr lang="en-US" sz="1000" dirty="0">
              <a:solidFill>
                <a:srgbClr val="14B8A6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76440" y="21945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 files in your Claude Project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076440" y="2880360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skill files live in a Claude Project, Claude references them automatically in every session. No re-uploading. No re-explaining. Just describe what you need and which phase you're in.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76440" y="4526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fastest path to AI-assisted design at scale.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67080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CRAFT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best from Claude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52780" y="12115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practices that consistently improve Claude's output quality.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about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product, the user, the phase, and the goal. The more Claude knows, the better it performs.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9943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[BRACKETS] as placeholders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skill file prompts use [BRACKETS]. Replace them with your specifics before sending.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73736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8470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394192" y="224942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output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94192" y="26883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tables, ranked lists, briefs with specific sections. Structure makes output immediately usable.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0467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Iterate, don't restart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'make it more concise' or 'add a section on X' rather than re-prompting from scratch.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43484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943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9943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skill files as system prompts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9943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skill file gives Claude a structured role with established workflows for that phase.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4069080"/>
            <a:ext cx="3566160" cy="210312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4069080"/>
            <a:ext cx="356616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94192" y="41788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>
              <a:solidFill>
                <a:srgbClr val="0F172A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8394192" y="45811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with your judgment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394192" y="50200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you decide. Every output needs your expert eye before sharing with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40664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and modifying 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4358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Markdown — easy to edit, extend, and version.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5355" y="2304288"/>
            <a:ext cx="5120640" cy="2514600"/>
          </a:xfrm>
          <a:prstGeom prst="rect">
            <a:avLst/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5355" y="2304288"/>
            <a:ext cx="5120640" cy="4572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8235" y="2468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frontmatter format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8235" y="27889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8235" y="30723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skill-name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8235" y="33558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XX -- Phase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8235" y="3639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One-line description.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8235" y="39227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ai_leverage: high | medium | 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8235" y="42062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57515" y="19476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rules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57515" y="2304288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57515" y="2304288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2107" y="2377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structured templates with clear [PLACEHOLDERS]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57515" y="3145536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57515" y="3145536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2107" y="3218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quality checklist at the end of every skill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57515" y="3986784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7515" y="3986784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22107" y="40599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skills actionable — workflows, not theory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57515" y="4828032"/>
            <a:ext cx="50292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57515" y="4828032"/>
            <a:ext cx="5029200" cy="4572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622107" y="49011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frontmatter format: name, phase, description, ai_leverage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52239" y="38404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488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4880" y="137160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204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File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204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 Design Process Template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6000" y="1636776"/>
            <a:ext cx="15138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per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5600" y="137160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15600" y="1371600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52760" y="14264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52760" y="16367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user-research.md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59000" y="16367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4880" y="202996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4880" y="2029968"/>
            <a:ext cx="45720" cy="548640"/>
          </a:xfrm>
          <a:prstGeom prst="rect">
            <a:avLst/>
          </a:prstGeom>
          <a:solidFill>
            <a:srgbClr val="22C55E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204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92040" y="2295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competitive-analysis.md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98280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5600" y="202996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5600" y="2029968"/>
            <a:ext cx="45720" cy="548640"/>
          </a:xfrm>
          <a:prstGeom prst="rect">
            <a:avLst/>
          </a:prstGeom>
          <a:solidFill>
            <a:srgbClr val="8B5C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2760" y="2084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352760" y="2295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problem-framing.md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59000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4880" y="26883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4880" y="2688336"/>
            <a:ext cx="45720" cy="548640"/>
          </a:xfrm>
          <a:prstGeom prst="rect">
            <a:avLst/>
          </a:prstGeom>
          <a:solidFill>
            <a:srgbClr val="F5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204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92040" y="2953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concept-generation.md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98280" y="29535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5600" y="2688336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5600" y="2688336"/>
            <a:ext cx="45720" cy="548640"/>
          </a:xfrm>
          <a:prstGeom prst="rect">
            <a:avLst/>
          </a:prstGeom>
          <a:solidFill>
            <a:srgbClr val="3B82F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276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52760" y="2953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prototyping.md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59000" y="29535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4880" y="334670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4880" y="3346704"/>
            <a:ext cx="45720" cy="548640"/>
          </a:xfrm>
          <a:prstGeom prst="rect">
            <a:avLst/>
          </a:prstGeom>
          <a:solidFill>
            <a:srgbClr val="EF4444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204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92040" y="3611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usability-testing.md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98280" y="36118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5600" y="3346704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15600" y="3346704"/>
            <a:ext cx="45720" cy="548640"/>
          </a:xfrm>
          <a:prstGeom prst="rect">
            <a:avLst/>
          </a:prstGeom>
          <a:solidFill>
            <a:srgbClr val="14B8A6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5276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52760" y="3611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design-delivery.md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59000" y="361188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4880" y="400507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4880" y="4005072"/>
            <a:ext cx="45720" cy="548640"/>
          </a:xfrm>
          <a:prstGeom prst="rect">
            <a:avLst/>
          </a:prstGeom>
          <a:solidFill>
            <a:srgbClr val="F69E0B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204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03/06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9204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design-systems.md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9828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 + Deliver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5600" y="4005072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15600" y="4005072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52760" y="40599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ALL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52760" y="4270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figma-playbook.md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559000" y="42702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phases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488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488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92040" y="4718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59204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design-process-system.jsx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798280" y="4928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explorer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5600" y="4663440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215600" y="4663440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352760" y="47183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6352760" y="4928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design-tokens-system.jsx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0559000" y="49286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builder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4880" y="532180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54880" y="5321808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92040" y="5376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8" name="Text 66"/>
          <p:cNvSpPr/>
          <p:nvPr/>
        </p:nvSpPr>
        <p:spPr>
          <a:xfrm>
            <a:off x="592040" y="55869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design-system-checklist.jsx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798280" y="5586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tool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215600" y="5321808"/>
            <a:ext cx="5532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215600" y="5321808"/>
            <a:ext cx="45720" cy="548640"/>
          </a:xfrm>
          <a:prstGeom prst="rect">
            <a:avLst/>
          </a:prstGeom>
          <a:solidFill>
            <a:schemeClr val="bg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52760" y="5376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 71"/>
          <p:cNvSpPr/>
          <p:nvPr/>
        </p:nvSpPr>
        <p:spPr>
          <a:xfrm>
            <a:off x="6352760" y="55869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m3-token-reference.jsx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0559000" y="5586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3080" y="934720"/>
            <a:ext cx="7315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UX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Framework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640080" y="2918968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02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TEMPLATE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4226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figma.com/design/mrHuD7sY7h6uKSVndTSIQE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197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4820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github.com/quinrobinson/AI-x-UX-Product-Design-Framework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32720" y="6528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MIT License</a:t>
            </a:r>
            <a:endParaRPr lang="en-US" sz="9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0340DEBC-8F2B-D727-9DA9-F5D4C16F4F31}"/>
              </a:ext>
            </a:extLst>
          </p:cNvPr>
          <p:cNvSpPr/>
          <p:nvPr/>
        </p:nvSpPr>
        <p:spPr>
          <a:xfrm>
            <a:off x="640080" y="5577840"/>
            <a:ext cx="10881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F7644390-9D64-B900-9D15-D246C7379E3F}"/>
              </a:ext>
            </a:extLst>
          </p:cNvPr>
          <p:cNvSpPr/>
          <p:nvPr/>
        </p:nvSpPr>
        <p:spPr>
          <a:xfrm>
            <a:off x="6400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933EA2E2-6FAA-4EED-CD40-EA5580C634BA}"/>
              </a:ext>
            </a:extLst>
          </p:cNvPr>
          <p:cNvSpPr/>
          <p:nvPr/>
        </p:nvSpPr>
        <p:spPr>
          <a:xfrm>
            <a:off x="640080" y="5943599"/>
            <a:ext cx="1280160" cy="0"/>
          </a:xfrm>
          <a:prstGeom prst="rect">
            <a:avLst/>
          </a:prstGeom>
          <a:solidFill>
            <a:srgbClr val="22C55E">
              <a:alpha val="45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45E40E9-181C-0F38-EFCC-F5D6C5FEB4B1}"/>
              </a:ext>
            </a:extLst>
          </p:cNvPr>
          <p:cNvSpPr/>
          <p:nvPr/>
        </p:nvSpPr>
        <p:spPr>
          <a:xfrm>
            <a:off x="256032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10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A3D1606B-A87D-6C11-FEF2-E325E67E1808}"/>
              </a:ext>
            </a:extLst>
          </p:cNvPr>
          <p:cNvSpPr/>
          <p:nvPr/>
        </p:nvSpPr>
        <p:spPr>
          <a:xfrm>
            <a:off x="2560320" y="5943599"/>
            <a:ext cx="1280160" cy="0"/>
          </a:xfrm>
          <a:prstGeom prst="rect">
            <a:avLst/>
          </a:prstGeom>
          <a:solidFill>
            <a:srgbClr val="8B5CF6">
              <a:alpha val="45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4CBBE6D7-3F18-E7A5-1E7D-B5CAE3E15507}"/>
              </a:ext>
            </a:extLst>
          </p:cNvPr>
          <p:cNvSpPr/>
          <p:nvPr/>
        </p:nvSpPr>
        <p:spPr>
          <a:xfrm>
            <a:off x="448056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100" dirty="0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60D99668-EA87-B270-6328-2A129E24DCE8}"/>
              </a:ext>
            </a:extLst>
          </p:cNvPr>
          <p:cNvSpPr/>
          <p:nvPr/>
        </p:nvSpPr>
        <p:spPr>
          <a:xfrm>
            <a:off x="4480560" y="5943599"/>
            <a:ext cx="1280160" cy="0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86D2405A-CF91-B43B-0249-F28A30FA57FF}"/>
              </a:ext>
            </a:extLst>
          </p:cNvPr>
          <p:cNvSpPr/>
          <p:nvPr/>
        </p:nvSpPr>
        <p:spPr>
          <a:xfrm>
            <a:off x="640080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A6BA315-CB80-853C-EF7F-2B33DFAF899D}"/>
              </a:ext>
            </a:extLst>
          </p:cNvPr>
          <p:cNvSpPr/>
          <p:nvPr/>
        </p:nvSpPr>
        <p:spPr>
          <a:xfrm>
            <a:off x="6400800" y="5943599"/>
            <a:ext cx="1280160" cy="0"/>
          </a:xfrm>
          <a:prstGeom prst="rect">
            <a:avLst/>
          </a:prstGeom>
          <a:solidFill>
            <a:srgbClr val="3B82F6">
              <a:alpha val="45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C602583C-69B5-9B22-3352-F3902E2A5863}"/>
              </a:ext>
            </a:extLst>
          </p:cNvPr>
          <p:cNvSpPr/>
          <p:nvPr/>
        </p:nvSpPr>
        <p:spPr>
          <a:xfrm>
            <a:off x="832104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ACD86337-EAA7-97A5-DC20-3F1419020862}"/>
              </a:ext>
            </a:extLst>
          </p:cNvPr>
          <p:cNvSpPr/>
          <p:nvPr/>
        </p:nvSpPr>
        <p:spPr>
          <a:xfrm>
            <a:off x="8321040" y="5943599"/>
            <a:ext cx="1280160" cy="0"/>
          </a:xfrm>
          <a:prstGeom prst="rect">
            <a:avLst/>
          </a:prstGeom>
          <a:solidFill>
            <a:srgbClr val="EF4444">
              <a:alpha val="45000"/>
            </a:srgbClr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59657DED-C3A2-C9C1-1407-40F191E74EFE}"/>
              </a:ext>
            </a:extLst>
          </p:cNvPr>
          <p:cNvSpPr/>
          <p:nvPr/>
        </p:nvSpPr>
        <p:spPr>
          <a:xfrm>
            <a:off x="10241280" y="5669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10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5262CCC7-115A-B25C-8C6C-A4F4C4777CE9}"/>
              </a:ext>
            </a:extLst>
          </p:cNvPr>
          <p:cNvSpPr/>
          <p:nvPr/>
        </p:nvSpPr>
        <p:spPr>
          <a:xfrm>
            <a:off x="10241280" y="5943599"/>
            <a:ext cx="1280160" cy="0"/>
          </a:xfrm>
          <a:prstGeom prst="rect">
            <a:avLst/>
          </a:prstGeom>
          <a:solidFill>
            <a:srgbClr val="14B8A6">
              <a:alpha val="45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2556</Words>
  <Application>Microsoft Macintosh PowerPoint</Application>
  <PresentationFormat>Widescreen</PresentationFormat>
  <Paragraphs>493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x UX Design Framework — Onboarding</dc:title>
  <dc:subject>PptxGenJS Presentation</dc:subject>
  <dc:creator>Quin Robinson</dc:creator>
  <cp:lastModifiedBy>Quin Robinson</cp:lastModifiedBy>
  <cp:revision>5</cp:revision>
  <dcterms:created xsi:type="dcterms:W3CDTF">2026-03-28T19:04:09Z</dcterms:created>
  <dcterms:modified xsi:type="dcterms:W3CDTF">2026-03-30T01:09:02Z</dcterms:modified>
</cp:coreProperties>
</file>